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24"/>
  </p:notesMasterIdLst>
  <p:sldIdLst>
    <p:sldId id="273" r:id="rId2"/>
    <p:sldId id="283" r:id="rId3"/>
    <p:sldId id="285" r:id="rId4"/>
    <p:sldId id="286" r:id="rId5"/>
    <p:sldId id="287" r:id="rId6"/>
    <p:sldId id="259" r:id="rId7"/>
    <p:sldId id="294" r:id="rId8"/>
    <p:sldId id="261" r:id="rId9"/>
    <p:sldId id="262" r:id="rId10"/>
    <p:sldId id="289" r:id="rId11"/>
    <p:sldId id="291" r:id="rId12"/>
    <p:sldId id="267" r:id="rId13"/>
    <p:sldId id="277" r:id="rId14"/>
    <p:sldId id="292" r:id="rId15"/>
    <p:sldId id="279" r:id="rId16"/>
    <p:sldId id="296" r:id="rId17"/>
    <p:sldId id="268" r:id="rId18"/>
    <p:sldId id="269" r:id="rId19"/>
    <p:sldId id="276" r:id="rId20"/>
    <p:sldId id="295" r:id="rId21"/>
    <p:sldId id="270" r:id="rId22"/>
    <p:sldId id="271" r:id="rId23"/>
  </p:sldIdLst>
  <p:sldSz cx="12192000" cy="6856413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5" autoAdjust="0"/>
    <p:restoredTop sz="94660"/>
  </p:normalViewPr>
  <p:slideViewPr>
    <p:cSldViewPr>
      <p:cViewPr>
        <p:scale>
          <a:sx n="70" d="100"/>
          <a:sy n="70" d="100"/>
        </p:scale>
        <p:origin x="572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06256F-34D9-4D1B-9D2A-37013A90502D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31725-C10E-4C2F-AD73-D7C258509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44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CCAD2-7B75-5281-ABE0-CD7AC26A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78372-119C-5F4A-FB42-560D71E1B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937EF-DC16-9908-F3A6-0F297B77E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F4D3-F3D8-C320-BC65-5458596A9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0BE1A-8335-4BF2-BE91-C96D32D07CA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54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31725-C10E-4C2F-AD73-D7C25850971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408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31725-C10E-4C2F-AD73-D7C25850971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837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0BE1A-8335-4BF2-BE91-C96D32D07CA0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83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1" y="2647337"/>
            <a:ext cx="4762500" cy="4209076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3173" y="-924"/>
            <a:ext cx="12195173" cy="6857338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1089484" y="1730003"/>
            <a:ext cx="7531497" cy="1204027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616370" y="2470354"/>
            <a:ext cx="8681508" cy="329183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3173" y="-924"/>
            <a:ext cx="12195173" cy="6857338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1" y="2647337"/>
            <a:ext cx="4762500" cy="4209076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1092532" y="1726338"/>
            <a:ext cx="7534656" cy="1207230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621536" y="2467733"/>
            <a:ext cx="8680704" cy="329108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097026"/>
            <a:ext cx="4267200" cy="37116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6688" y="1097026"/>
            <a:ext cx="4267200" cy="37116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097026"/>
            <a:ext cx="4267200" cy="548513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2200" y="1701454"/>
            <a:ext cx="4267200" cy="310824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6688" y="1097026"/>
            <a:ext cx="4267200" cy="548513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1701454"/>
            <a:ext cx="4267200" cy="310824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1" y="2647337"/>
            <a:ext cx="4762500" cy="4209076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1721646" y="-1721644"/>
            <a:ext cx="6856413" cy="10299704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1046573" y="1575739"/>
            <a:ext cx="6949440" cy="1089175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2737" y="2618306"/>
            <a:ext cx="5077039" cy="33239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730605" y="2252863"/>
            <a:ext cx="7726347" cy="623170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705101" y="0"/>
            <a:ext cx="9486900" cy="6856413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1" y="2647337"/>
            <a:ext cx="4762500" cy="4209076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" y="5047082"/>
            <a:ext cx="4762500" cy="1809331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94929" y="1717104"/>
            <a:ext cx="7315200" cy="867243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524639" y="2180024"/>
            <a:ext cx="8128727" cy="740493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576"/>
            <a:ext cx="2743200" cy="467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576"/>
            <a:ext cx="8026400" cy="467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3175" y="5049464"/>
            <a:ext cx="4765676" cy="18069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3173" y="5050124"/>
            <a:ext cx="12195173" cy="1806291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65675"/>
            <a:ext cx="10027920" cy="548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100374"/>
            <a:ext cx="10027920" cy="3579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68224" y="5869090"/>
            <a:ext cx="2901696" cy="20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90019" y="6283667"/>
            <a:ext cx="6299200" cy="274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965"/>
              </a:lnSpc>
            </a:pPr>
            <a:r>
              <a:rPr lang="en-IN" spc="-75"/>
              <a:t>Made</a:t>
            </a:r>
            <a:r>
              <a:rPr lang="en-IN"/>
              <a:t> </a:t>
            </a:r>
            <a:r>
              <a:rPr lang="en-IN" spc="-55"/>
              <a:t>with</a:t>
            </a:r>
            <a:r>
              <a:rPr lang="en-IN"/>
              <a:t> </a:t>
            </a:r>
            <a:r>
              <a:rPr lang="en-IN" spc="-50"/>
              <a:t>Genspark</a:t>
            </a:r>
            <a:endParaRPr lang="en-IN" spc="-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384" y="6169394"/>
            <a:ext cx="670560" cy="502804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F3CF8-9D43-4111-6573-C26628CD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5D0D-07AE-4546-34EF-D217904D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532607"/>
            <a:ext cx="10661122" cy="3975090"/>
          </a:xfrm>
        </p:spPr>
        <p:txBody>
          <a:bodyPr>
            <a:normAutofit/>
          </a:bodyPr>
          <a:lstStyle/>
          <a:p>
            <a:pPr algn="ctr"/>
            <a:r>
              <a:rPr lang="en-GB" sz="5399" dirty="0">
                <a:latin typeface="Algerian" panose="04020705040A02060702" pitchFamily="82" charset="0"/>
              </a:rPr>
              <a:t>OLIST E-COMMERCE CUSTOMER INSIGHTS ANALYSIS</a:t>
            </a:r>
            <a:br>
              <a:rPr lang="en-GB" sz="5399" dirty="0">
                <a:latin typeface="Algerian" panose="04020705040A02060702" pitchFamily="82" charset="0"/>
              </a:rPr>
            </a:br>
            <a:r>
              <a:rPr lang="en-GB" sz="1800" dirty="0">
                <a:latin typeface="Algerian" panose="04020705040A02060702" pitchFamily="82" charset="0"/>
              </a:rPr>
              <a:t>Customer Behaviour, Payment &amp; Delivery Analysis</a:t>
            </a:r>
            <a:br>
              <a:rPr lang="en-GB" sz="1800" dirty="0">
                <a:latin typeface="Algerian" panose="04020705040A02060702" pitchFamily="82" charset="0"/>
              </a:rPr>
            </a:br>
            <a:r>
              <a:rPr lang="en-GB" sz="1800" dirty="0">
                <a:latin typeface="Algerian" panose="04020705040A02060702" pitchFamily="82" charset="0"/>
              </a:rPr>
              <a:t>using MySQL|powerbi|excel and Tableau</a:t>
            </a:r>
            <a:endParaRPr lang="en-IN" sz="1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1B967-48BB-8B31-A5E8-74DD4647F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88" y="3668252"/>
            <a:ext cx="10988786" cy="3145038"/>
          </a:xfrm>
        </p:spPr>
        <p:txBody>
          <a:bodyPr>
            <a:normAutofit/>
          </a:bodyPr>
          <a:lstStyle/>
          <a:p>
            <a:pPr marL="0" indent="0" algn="r">
              <a:lnSpc>
                <a:spcPct val="120000"/>
              </a:lnSpc>
            </a:pPr>
            <a:endParaRPr lang="en-IN" sz="1700" dirty="0">
              <a:latin typeface="Algerian" panose="04020705040A02060702" pitchFamily="82" charset="0"/>
            </a:endParaRPr>
          </a:p>
          <a:p>
            <a:pPr marL="0" indent="0" algn="r">
              <a:lnSpc>
                <a:spcPct val="120000"/>
              </a:lnSpc>
            </a:pPr>
            <a:endParaRPr lang="en-IN" sz="1700" dirty="0">
              <a:latin typeface="Algerian" panose="04020705040A02060702" pitchFamily="82" charset="0"/>
            </a:endParaRPr>
          </a:p>
          <a:p>
            <a:pPr marL="0" indent="0" algn="r">
              <a:lnSpc>
                <a:spcPct val="120000"/>
              </a:lnSpc>
            </a:pPr>
            <a:endParaRPr lang="en-IN" sz="1700" dirty="0">
              <a:latin typeface="Algerian" panose="04020705040A02060702" pitchFamily="82" charset="0"/>
            </a:endParaRPr>
          </a:p>
          <a:p>
            <a:pPr marL="0" indent="0" algn="r">
              <a:lnSpc>
                <a:spcPct val="120000"/>
              </a:lnSpc>
            </a:pPr>
            <a:endParaRPr lang="en-IN" sz="1700" dirty="0">
              <a:latin typeface="Algerian" panose="04020705040A02060702" pitchFamily="82" charset="0"/>
            </a:endParaRPr>
          </a:p>
          <a:p>
            <a:pPr marL="0" indent="0" algn="r">
              <a:lnSpc>
                <a:spcPct val="120000"/>
              </a:lnSpc>
            </a:pPr>
            <a:r>
              <a:rPr lang="en-IN" sz="1700" dirty="0">
                <a:latin typeface="Algerian" panose="04020705040A02060702" pitchFamily="82" charset="0"/>
              </a:rPr>
              <a:t>Presented by Group 1</a:t>
            </a:r>
          </a:p>
          <a:p>
            <a:pPr marL="0" indent="0" algn="r">
              <a:lnSpc>
                <a:spcPct val="120000"/>
              </a:lnSpc>
            </a:pPr>
            <a:r>
              <a:rPr lang="en-IN" sz="1700" dirty="0">
                <a:latin typeface="Algerian" panose="04020705040A02060702" pitchFamily="82" charset="0"/>
              </a:rPr>
              <a:t>Date:16-03-26</a:t>
            </a:r>
          </a:p>
          <a:p>
            <a:pPr marL="0" indent="0">
              <a:lnSpc>
                <a:spcPct val="120000"/>
              </a:lnSpc>
            </a:pPr>
            <a:endParaRPr lang="en-IN" sz="1700" dirty="0"/>
          </a:p>
          <a:p>
            <a:pPr marL="0" indent="0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44D6F8-1259-77EC-54E2-F36D06B81A7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181289"/>
            <a:ext cx="3200399" cy="277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178A-B9B8-1E1F-D166-11C4E0BD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5675"/>
            <a:ext cx="10027920" cy="700331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Team Members  </a:t>
            </a:r>
            <a:r>
              <a:rPr lang="en-IN" dirty="0"/>
              <a:t>👥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CF905-E11C-B75A-6471-EF79FC93D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42206"/>
            <a:ext cx="9296400" cy="39624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</a:pPr>
            <a:endParaRPr lang="en-IN" b="1" dirty="0">
              <a:latin typeface="Algerian" panose="04020705040A02060702" pitchFamily="82" charset="0"/>
            </a:endParaRPr>
          </a:p>
          <a:p>
            <a:pPr marL="457109" indent="-457109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latin typeface="Algerian" panose="04020705040A02060702" pitchFamily="82" charset="0"/>
              </a:rPr>
              <a:t>Rushikesh Jadhav</a:t>
            </a:r>
          </a:p>
          <a:p>
            <a:pPr marL="457109" indent="-457109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latin typeface="Algerian" panose="04020705040A02060702" pitchFamily="82" charset="0"/>
              </a:rPr>
              <a:t>Susmitha kandikatla</a:t>
            </a:r>
          </a:p>
          <a:p>
            <a:pPr marL="457109" indent="-457109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latin typeface="Algerian" panose="04020705040A02060702" pitchFamily="82" charset="0"/>
              </a:rPr>
              <a:t>Soumya Ranjan khatoi</a:t>
            </a:r>
          </a:p>
          <a:p>
            <a:pPr marL="457109" indent="-457109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latin typeface="Algerian" panose="04020705040A02060702" pitchFamily="82" charset="0"/>
              </a:rPr>
              <a:t>Srilakshmi</a:t>
            </a:r>
          </a:p>
          <a:p>
            <a:pPr marL="457109" indent="-457109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latin typeface="Algerian" panose="04020705040A02060702" pitchFamily="82" charset="0"/>
              </a:rPr>
              <a:t>Pushkar Chandra</a:t>
            </a:r>
          </a:p>
          <a:p>
            <a:pPr marL="457109" indent="-457109">
              <a:lnSpc>
                <a:spcPct val="120000"/>
              </a:lnSpc>
              <a:buFont typeface="+mj-lt"/>
              <a:buAutoNum type="arabicPeriod"/>
            </a:pPr>
            <a:r>
              <a:rPr lang="en-US" sz="2000" b="1" dirty="0">
                <a:latin typeface="Algerian" panose="04020705040A02060702" pitchFamily="82" charset="0"/>
              </a:rPr>
              <a:t>Aaman mubin inamdar</a:t>
            </a:r>
          </a:p>
          <a:p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99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588" y="609459"/>
            <a:ext cx="8594678" cy="944661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945" y="1370807"/>
            <a:ext cx="8594678" cy="4464810"/>
          </a:xfrm>
        </p:spPr>
        <p:txBody>
          <a:bodyPr>
            <a:normAutofit/>
          </a:bodyPr>
          <a:lstStyle/>
          <a:p>
            <a:r>
              <a:rPr sz="1800" b="1" dirty="0">
                <a:latin typeface="Arial Rounded MT Bold" panose="020F0704030504030204" pitchFamily="34" charset="0"/>
              </a:rPr>
              <a:t>1. Project Overview</a:t>
            </a:r>
          </a:p>
          <a:p>
            <a:r>
              <a:rPr sz="1800" b="1" dirty="0">
                <a:latin typeface="Arial Rounded MT Bold" panose="020F0704030504030204" pitchFamily="34" charset="0"/>
              </a:rPr>
              <a:t>2. Dataset Description</a:t>
            </a:r>
          </a:p>
          <a:p>
            <a:r>
              <a:rPr sz="1800" b="1" dirty="0">
                <a:latin typeface="Arial Rounded MT Bold" panose="020F0704030504030204" pitchFamily="34" charset="0"/>
              </a:rPr>
              <a:t>3. Key Performance Indicators</a:t>
            </a:r>
            <a:r>
              <a:rPr lang="en-IN" sz="1800" b="1" dirty="0">
                <a:latin typeface="Arial Rounded MT Bold" panose="020F0704030504030204" pitchFamily="34" charset="0"/>
              </a:rPr>
              <a:t> (</a:t>
            </a:r>
            <a:r>
              <a:rPr lang="en-IN" sz="1800" b="1" dirty="0" err="1">
                <a:latin typeface="Arial Rounded MT Bold" panose="020F0704030504030204" pitchFamily="34" charset="0"/>
              </a:rPr>
              <a:t>kpis</a:t>
            </a:r>
            <a:r>
              <a:rPr lang="en-IN" sz="1800" b="1" dirty="0">
                <a:latin typeface="Arial Rounded MT Bold" panose="020F0704030504030204" pitchFamily="34" charset="0"/>
              </a:rPr>
              <a:t>)</a:t>
            </a:r>
          </a:p>
          <a:p>
            <a:r>
              <a:rPr lang="en-IN" sz="1800" b="1" dirty="0">
                <a:latin typeface="Arial Rounded MT Bold" panose="020F0704030504030204" pitchFamily="34" charset="0"/>
              </a:rPr>
              <a:t>4. Project Process</a:t>
            </a:r>
            <a:endParaRPr sz="1800" b="1" dirty="0">
              <a:latin typeface="Arial Rounded MT Bold" panose="020F0704030504030204" pitchFamily="34" charset="0"/>
            </a:endParaRPr>
          </a:p>
          <a:p>
            <a:r>
              <a:rPr lang="en-IN" sz="1800" dirty="0">
                <a:latin typeface="Arial Rounded MT Bold" panose="020F0704030504030204" pitchFamily="34" charset="0"/>
              </a:rPr>
              <a:t>5</a:t>
            </a:r>
            <a:r>
              <a:rPr sz="1800" b="1" dirty="0">
                <a:latin typeface="Arial Rounded MT Bold" panose="020F0704030504030204" pitchFamily="34" charset="0"/>
              </a:rPr>
              <a:t>. </a:t>
            </a:r>
            <a:r>
              <a:rPr lang="en-IN" sz="1800" b="1" dirty="0">
                <a:latin typeface="Arial Rounded MT Bold" panose="020F0704030504030204" pitchFamily="34" charset="0"/>
              </a:rPr>
              <a:t>my</a:t>
            </a:r>
            <a:r>
              <a:rPr sz="1800" b="1" dirty="0">
                <a:latin typeface="Arial Rounded MT Bold" panose="020F0704030504030204" pitchFamily="34" charset="0"/>
              </a:rPr>
              <a:t>SQL Analysis</a:t>
            </a:r>
          </a:p>
          <a:p>
            <a:r>
              <a:rPr lang="en-IN" sz="1800" dirty="0">
                <a:latin typeface="Arial Rounded MT Bold" panose="020F0704030504030204" pitchFamily="34" charset="0"/>
              </a:rPr>
              <a:t>6</a:t>
            </a:r>
            <a:r>
              <a:rPr sz="1800" b="1" dirty="0">
                <a:latin typeface="Arial Rounded MT Bold" panose="020F0704030504030204" pitchFamily="34" charset="0"/>
              </a:rPr>
              <a:t>. Dashboard Visualizations</a:t>
            </a:r>
            <a:r>
              <a:rPr lang="en-IN" sz="1800" b="1" dirty="0">
                <a:latin typeface="Arial Rounded MT Bold" panose="020F0704030504030204" pitchFamily="34" charset="0"/>
              </a:rPr>
              <a:t> (</a:t>
            </a:r>
            <a:r>
              <a:rPr lang="en-IN" sz="1800" b="1" dirty="0" err="1">
                <a:latin typeface="Arial Rounded MT Bold" panose="020F0704030504030204" pitchFamily="34" charset="0"/>
              </a:rPr>
              <a:t>excel,powerbi</a:t>
            </a:r>
            <a:r>
              <a:rPr lang="en-IN" sz="1800" b="1" dirty="0">
                <a:latin typeface="Arial Rounded MT Bold" panose="020F0704030504030204" pitchFamily="34" charset="0"/>
              </a:rPr>
              <a:t> &amp;tableau) </a:t>
            </a:r>
            <a:endParaRPr sz="1800" b="1" dirty="0">
              <a:latin typeface="Arial Rounded MT Bold" panose="020F0704030504030204" pitchFamily="34" charset="0"/>
            </a:endParaRPr>
          </a:p>
          <a:p>
            <a:r>
              <a:rPr lang="en-IN" sz="1800" dirty="0">
                <a:latin typeface="Arial Rounded MT Bold" panose="020F0704030504030204" pitchFamily="34" charset="0"/>
              </a:rPr>
              <a:t>7</a:t>
            </a:r>
            <a:r>
              <a:rPr sz="1800" b="1" dirty="0">
                <a:latin typeface="Arial Rounded MT Bold" panose="020F0704030504030204" pitchFamily="34" charset="0"/>
              </a:rPr>
              <a:t>. </a:t>
            </a:r>
            <a:r>
              <a:rPr lang="en-IN" sz="1800" b="1" dirty="0">
                <a:latin typeface="Arial Rounded MT Bold" panose="020F0704030504030204" pitchFamily="34" charset="0"/>
              </a:rPr>
              <a:t>Business </a:t>
            </a:r>
            <a:r>
              <a:rPr sz="1800" b="1" dirty="0">
                <a:latin typeface="Arial Rounded MT Bold" panose="020F0704030504030204" pitchFamily="34" charset="0"/>
              </a:rPr>
              <a:t>Insights</a:t>
            </a:r>
            <a:endParaRPr lang="en-IN" sz="1800" b="1" dirty="0">
              <a:latin typeface="Arial Rounded MT Bold" panose="020F0704030504030204" pitchFamily="34" charset="0"/>
            </a:endParaRPr>
          </a:p>
          <a:p>
            <a:r>
              <a:rPr lang="en-IN" sz="1800" dirty="0">
                <a:latin typeface="Arial Rounded MT Bold" panose="020F0704030504030204" pitchFamily="34" charset="0"/>
              </a:rPr>
              <a:t>8</a:t>
            </a:r>
            <a:r>
              <a:rPr lang="en-IN" sz="1800" b="1" dirty="0">
                <a:latin typeface="Arial Rounded MT Bold" panose="020F0704030504030204" pitchFamily="34" charset="0"/>
              </a:rPr>
              <a:t>. Recommendations</a:t>
            </a:r>
          </a:p>
          <a:p>
            <a:r>
              <a:rPr lang="en-IN" sz="1800" dirty="0">
                <a:latin typeface="Arial Rounded MT Bold" panose="020F0704030504030204" pitchFamily="34" charset="0"/>
              </a:rPr>
              <a:t>9. Business Impacts</a:t>
            </a:r>
          </a:p>
          <a:p>
            <a:r>
              <a:rPr lang="en-IN" sz="1800" b="1" dirty="0">
                <a:latin typeface="Arial Rounded MT Bold" panose="020F0704030504030204" pitchFamily="34" charset="0"/>
              </a:rPr>
              <a:t>10</a:t>
            </a:r>
            <a:r>
              <a:rPr sz="1800" b="1" dirty="0">
                <a:latin typeface="Arial Rounded MT Bold" panose="020F0704030504030204" pitchFamily="34" charset="0"/>
              </a:rPr>
              <a:t>.Challenges</a:t>
            </a:r>
            <a:r>
              <a:rPr lang="en-IN" sz="1800" b="1" dirty="0">
                <a:latin typeface="Arial Rounded MT Bold" panose="020F0704030504030204" pitchFamily="34" charset="0"/>
              </a:rPr>
              <a:t> faced</a:t>
            </a:r>
            <a:endParaRPr sz="1800" b="1" dirty="0">
              <a:latin typeface="Arial Rounded MT Bold" panose="020F0704030504030204" pitchFamily="34" charset="0"/>
            </a:endParaRPr>
          </a:p>
          <a:p>
            <a:r>
              <a:rPr lang="en-IN" sz="1800" dirty="0">
                <a:latin typeface="Arial Rounded MT Bold" panose="020F0704030504030204" pitchFamily="34" charset="0"/>
              </a:rPr>
              <a:t>11</a:t>
            </a:r>
            <a:r>
              <a:rPr sz="1800" b="1" dirty="0">
                <a:latin typeface="Arial Rounded MT Bold" panose="020F0704030504030204" pitchFamily="34" charset="0"/>
              </a:rPr>
              <a:t>. 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4F1FCD-41A3-B695-2F12-35BF07C3C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837406"/>
            <a:ext cx="251789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FDD2A4-67A0-A12B-369F-095907A170A1}"/>
              </a:ext>
            </a:extLst>
          </p:cNvPr>
          <p:cNvSpPr txBox="1"/>
          <p:nvPr/>
        </p:nvSpPr>
        <p:spPr>
          <a:xfrm>
            <a:off x="380999" y="227806"/>
            <a:ext cx="10287001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Project Overview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 </a:t>
            </a:r>
            <a:r>
              <a:rPr lang="en-GB" dirty="0">
                <a:latin typeface="Arial Rounded MT Bold" panose="020F0704030504030204" pitchFamily="34" charset="0"/>
              </a:rPr>
              <a:t>The </a:t>
            </a:r>
            <a:r>
              <a:rPr lang="en-GB" b="1" dirty="0" err="1">
                <a:latin typeface="Arial Rounded MT Bold" panose="020F0704030504030204" pitchFamily="34" charset="0"/>
              </a:rPr>
              <a:t>Olist</a:t>
            </a:r>
            <a:r>
              <a:rPr lang="en-GB" b="1" dirty="0">
                <a:latin typeface="Arial Rounded MT Bold" panose="020F0704030504030204" pitchFamily="34" charset="0"/>
              </a:rPr>
              <a:t> E-Commerce Data Analysis project</a:t>
            </a:r>
            <a:r>
              <a:rPr lang="en-GB" dirty="0">
                <a:latin typeface="Arial Rounded MT Bold" panose="020F0704030504030204" pitchFamily="34" charset="0"/>
              </a:rPr>
              <a:t> analyses an online retail dataset to understand </a:t>
            </a:r>
            <a:r>
              <a:rPr lang="en-GB" b="1" dirty="0">
                <a:latin typeface="Arial Rounded MT Bold" panose="020F0704030504030204" pitchFamily="34" charset="0"/>
              </a:rPr>
              <a:t>customer purchasing </a:t>
            </a:r>
            <a:r>
              <a:rPr lang="en-GB" b="1" dirty="0" err="1">
                <a:latin typeface="Arial Rounded MT Bold" panose="020F0704030504030204" pitchFamily="34" charset="0"/>
              </a:rPr>
              <a:t>behavior</a:t>
            </a:r>
            <a:r>
              <a:rPr lang="en-GB" b="1" dirty="0">
                <a:latin typeface="Arial Rounded MT Bold" panose="020F0704030504030204" pitchFamily="34" charset="0"/>
              </a:rPr>
              <a:t>, payment methods, delivery performance, and sales trends</a:t>
            </a:r>
            <a:r>
              <a:rPr lang="en-GB" dirty="0">
                <a:latin typeface="Arial Rounded MT Bold" panose="020F070403050403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>
                <a:latin typeface="Arial Rounded MT Bold" panose="020F0704030504030204" pitchFamily="34" charset="0"/>
              </a:rPr>
              <a:t>The dataset contains </a:t>
            </a:r>
            <a:r>
              <a:rPr lang="en-GB" b="1" dirty="0">
                <a:latin typeface="Arial Rounded MT Bold" panose="020F0704030504030204" pitchFamily="34" charset="0"/>
              </a:rPr>
              <a:t>9 CSV files</a:t>
            </a:r>
            <a:r>
              <a:rPr lang="en-GB" dirty="0">
                <a:latin typeface="Arial Rounded MT Bold" panose="020F0704030504030204" pitchFamily="34" charset="0"/>
              </a:rPr>
              <a:t>, including customers, orders, products, sellers, payments, reviews, geolocation, and product categories.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>
                <a:latin typeface="Arial Rounded MT Bold" panose="020F0704030504030204" pitchFamily="34" charset="0"/>
              </a:rPr>
              <a:t>The project is divided into </a:t>
            </a:r>
            <a:r>
              <a:rPr lang="en-GB" b="1" dirty="0">
                <a:latin typeface="Arial Rounded MT Bold" panose="020F0704030504030204" pitchFamily="34" charset="0"/>
              </a:rPr>
              <a:t>four analytical modules</a:t>
            </a:r>
            <a:r>
              <a:rPr lang="en-GB" dirty="0">
                <a:latin typeface="Arial Rounded MT Bold" panose="020F0704030504030204" pitchFamily="34" charset="0"/>
              </a:rPr>
              <a:t> using different tools:</a:t>
            </a:r>
            <a:br>
              <a:rPr lang="en-GB" dirty="0">
                <a:latin typeface="Arial Rounded MT Bold" panose="020F0704030504030204" pitchFamily="34" charset="0"/>
              </a:rPr>
            </a:br>
            <a:r>
              <a:rPr lang="en-GB" b="1" dirty="0">
                <a:latin typeface="Arial Rounded MT Bold" panose="020F0704030504030204" pitchFamily="34" charset="0"/>
              </a:rPr>
              <a:t>MySQL, Microsoft Excel, Power BI, and Tableau.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>
                <a:latin typeface="Arial Rounded MT Bold" panose="020F0704030504030204" pitchFamily="34" charset="0"/>
              </a:rPr>
              <a:t> Across all modules, the same </a:t>
            </a:r>
            <a:r>
              <a:rPr lang="en-GB" b="1" dirty="0">
                <a:latin typeface="Arial Rounded MT Bold" panose="020F0704030504030204" pitchFamily="34" charset="0"/>
              </a:rPr>
              <a:t>five Key Performance Indicators (KPIs)</a:t>
            </a:r>
            <a:r>
              <a:rPr lang="en-GB" dirty="0">
                <a:latin typeface="Arial Rounded MT Bold" panose="020F0704030504030204" pitchFamily="34" charset="0"/>
              </a:rPr>
              <a:t> were analysed to generate business insights.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dirty="0">
              <a:latin typeface="Arial Rounded MT Bold" panose="020F07040305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>
                <a:latin typeface="Arial Rounded MT Bold" panose="020F0704030504030204" pitchFamily="34" charset="0"/>
              </a:rPr>
              <a:t>The main objective is to </a:t>
            </a:r>
            <a:r>
              <a:rPr lang="en-GB" b="1" dirty="0">
                <a:latin typeface="Arial Rounded MT Bold" panose="020F0704030504030204" pitchFamily="34" charset="0"/>
              </a:rPr>
              <a:t>transform raw transactional data into meaningful insights</a:t>
            </a:r>
            <a:r>
              <a:rPr lang="en-GB" dirty="0">
                <a:latin typeface="Arial Rounded MT Bold" panose="020F0704030504030204" pitchFamily="34" charset="0"/>
              </a:rPr>
              <a:t> that improve </a:t>
            </a:r>
            <a:r>
              <a:rPr lang="en-GB" b="1" dirty="0">
                <a:latin typeface="Arial Rounded MT Bold" panose="020F0704030504030204" pitchFamily="34" charset="0"/>
              </a:rPr>
              <a:t>logistics efficiency, customer satisfaction, and sales strategies.</a:t>
            </a:r>
            <a:endParaRPr lang="en-GB" dirty="0"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ACC5AC-44D1-CD70-A849-4209ABED9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660" y="1370806"/>
            <a:ext cx="24384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1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E6607C-4F48-0DF7-2525-F5034D07DA68}"/>
              </a:ext>
            </a:extLst>
          </p:cNvPr>
          <p:cNvSpPr txBox="1"/>
          <p:nvPr/>
        </p:nvSpPr>
        <p:spPr>
          <a:xfrm>
            <a:off x="533400" y="761206"/>
            <a:ext cx="11359373" cy="3785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KEY PERFORMANCE INDICATORS KPIS</a:t>
            </a:r>
          </a:p>
          <a:p>
            <a:endParaRPr lang="en-US" sz="2800" b="1" dirty="0"/>
          </a:p>
          <a:p>
            <a:pPr marL="457109" indent="-457109">
              <a:buFont typeface="+mj-lt"/>
              <a:buAutoNum type="arabicPeriod"/>
            </a:pPr>
            <a:r>
              <a:rPr lang="en-US" sz="2000" dirty="0">
                <a:latin typeface="Arial Rounded MT Bold" panose="020F0704030504030204" pitchFamily="34" charset="0"/>
              </a:rPr>
              <a:t>Weekday vs Weekend Payment Statistics</a:t>
            </a:r>
          </a:p>
          <a:p>
            <a:pPr marL="457109" indent="-457109">
              <a:buFont typeface="+mj-lt"/>
              <a:buAutoNum type="arabicPeriod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457109" indent="-457109">
              <a:buFont typeface="+mj-lt"/>
              <a:buAutoNum type="arabicPeriod"/>
            </a:pPr>
            <a:r>
              <a:rPr lang="en-US" sz="2000" dirty="0">
                <a:latin typeface="Arial Rounded MT Bold" panose="020F0704030504030204" pitchFamily="34" charset="0"/>
              </a:rPr>
              <a:t> Number of Orders with Review Score 5 and Credit Card Payment</a:t>
            </a:r>
          </a:p>
          <a:p>
            <a:pPr marL="457109" indent="-457109">
              <a:buFont typeface="+mj-lt"/>
              <a:buAutoNum type="arabicPeriod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457109" indent="-457109">
              <a:buFont typeface="+mj-lt"/>
              <a:buAutoNum type="arabicPeriod"/>
            </a:pPr>
            <a:r>
              <a:rPr lang="en-US" sz="2000" dirty="0">
                <a:latin typeface="Arial Rounded MT Bold" panose="020F0704030504030204" pitchFamily="34" charset="0"/>
              </a:rPr>
              <a:t>Average Delivery Time for Pet Shop Products</a:t>
            </a:r>
          </a:p>
          <a:p>
            <a:pPr marL="457109" indent="-457109">
              <a:buFont typeface="+mj-lt"/>
              <a:buAutoNum type="arabicPeriod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457109" indent="-457109">
              <a:buFont typeface="+mj-lt"/>
              <a:buAutoNum type="arabicPeriod"/>
            </a:pPr>
            <a:r>
              <a:rPr lang="en-US" sz="2000" dirty="0">
                <a:latin typeface="Arial Rounded MT Bold" panose="020F0704030504030204" pitchFamily="34" charset="0"/>
              </a:rPr>
              <a:t>Average Price and Payment Value from São Paulo Customers</a:t>
            </a:r>
          </a:p>
          <a:p>
            <a:pPr marL="457109" indent="-457109">
              <a:buFont typeface="+mj-lt"/>
              <a:buAutoNum type="arabicPeriod"/>
            </a:pPr>
            <a:endParaRPr lang="en-US" sz="2000" dirty="0">
              <a:latin typeface="Arial Rounded MT Bold" panose="020F0704030504030204" pitchFamily="34" charset="0"/>
            </a:endParaRPr>
          </a:p>
          <a:p>
            <a:pPr marL="457109" indent="-457109">
              <a:buFont typeface="+mj-lt"/>
              <a:buAutoNum type="arabicPeriod"/>
            </a:pPr>
            <a:r>
              <a:rPr lang="en-US" sz="2000" dirty="0">
                <a:latin typeface="Arial Rounded MT Bold" panose="020F0704030504030204" pitchFamily="34" charset="0"/>
              </a:rPr>
              <a:t>Relationship Between Shipping Days and Review Scores</a:t>
            </a: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900F4559-EDC8-84D3-5DCF-FB3D251B9804}"/>
              </a:ext>
            </a:extLst>
          </p:cNvPr>
          <p:cNvSpPr/>
          <p:nvPr/>
        </p:nvSpPr>
        <p:spPr>
          <a:xfrm>
            <a:off x="9982200" y="2430130"/>
            <a:ext cx="685800" cy="600075"/>
          </a:xfrm>
          <a:custGeom>
            <a:avLst/>
            <a:gdLst/>
            <a:ahLst/>
            <a:cxnLst/>
            <a:rect l="l" t="t" r="r" b="b"/>
            <a:pathLst>
              <a:path w="685800" h="600075">
                <a:moveTo>
                  <a:pt x="642937" y="600075"/>
                </a:moveTo>
                <a:lnTo>
                  <a:pt x="107156" y="600075"/>
                </a:lnTo>
                <a:lnTo>
                  <a:pt x="65436" y="591657"/>
                </a:lnTo>
                <a:lnTo>
                  <a:pt x="31376" y="568698"/>
                </a:lnTo>
                <a:lnTo>
                  <a:pt x="8417" y="534638"/>
                </a:lnTo>
                <a:lnTo>
                  <a:pt x="0" y="492918"/>
                </a:lnTo>
                <a:lnTo>
                  <a:pt x="0" y="42862"/>
                </a:lnTo>
                <a:lnTo>
                  <a:pt x="3363" y="26163"/>
                </a:lnTo>
                <a:lnTo>
                  <a:pt x="12540" y="12540"/>
                </a:lnTo>
                <a:lnTo>
                  <a:pt x="26163" y="3363"/>
                </a:lnTo>
                <a:lnTo>
                  <a:pt x="42862" y="0"/>
                </a:lnTo>
                <a:lnTo>
                  <a:pt x="59561" y="3363"/>
                </a:lnTo>
                <a:lnTo>
                  <a:pt x="73184" y="12540"/>
                </a:lnTo>
                <a:lnTo>
                  <a:pt x="82361" y="26163"/>
                </a:lnTo>
                <a:lnTo>
                  <a:pt x="85725" y="42862"/>
                </a:lnTo>
                <a:lnTo>
                  <a:pt x="85725" y="492918"/>
                </a:lnTo>
                <a:lnTo>
                  <a:pt x="87416" y="501240"/>
                </a:lnTo>
                <a:lnTo>
                  <a:pt x="92020" y="508054"/>
                </a:lnTo>
                <a:lnTo>
                  <a:pt x="98834" y="512658"/>
                </a:lnTo>
                <a:lnTo>
                  <a:pt x="107156" y="514350"/>
                </a:lnTo>
                <a:lnTo>
                  <a:pt x="642937" y="514350"/>
                </a:lnTo>
                <a:lnTo>
                  <a:pt x="659636" y="517713"/>
                </a:lnTo>
                <a:lnTo>
                  <a:pt x="673259" y="526890"/>
                </a:lnTo>
                <a:lnTo>
                  <a:pt x="682436" y="540513"/>
                </a:lnTo>
                <a:lnTo>
                  <a:pt x="685800" y="557212"/>
                </a:lnTo>
                <a:lnTo>
                  <a:pt x="682436" y="573911"/>
                </a:lnTo>
                <a:lnTo>
                  <a:pt x="673259" y="587534"/>
                </a:lnTo>
                <a:lnTo>
                  <a:pt x="659636" y="596711"/>
                </a:lnTo>
                <a:lnTo>
                  <a:pt x="642937" y="600075"/>
                </a:lnTo>
                <a:close/>
              </a:path>
              <a:path w="685800" h="600075">
                <a:moveTo>
                  <a:pt x="471487" y="171450"/>
                </a:moveTo>
                <a:lnTo>
                  <a:pt x="214312" y="171450"/>
                </a:lnTo>
                <a:lnTo>
                  <a:pt x="197613" y="168086"/>
                </a:lnTo>
                <a:lnTo>
                  <a:pt x="183990" y="158909"/>
                </a:lnTo>
                <a:lnTo>
                  <a:pt x="174813" y="145286"/>
                </a:lnTo>
                <a:lnTo>
                  <a:pt x="171450" y="128587"/>
                </a:lnTo>
                <a:lnTo>
                  <a:pt x="174813" y="111888"/>
                </a:lnTo>
                <a:lnTo>
                  <a:pt x="183990" y="98265"/>
                </a:lnTo>
                <a:lnTo>
                  <a:pt x="197613" y="89088"/>
                </a:lnTo>
                <a:lnTo>
                  <a:pt x="214312" y="85725"/>
                </a:lnTo>
                <a:lnTo>
                  <a:pt x="471487" y="85725"/>
                </a:lnTo>
                <a:lnTo>
                  <a:pt x="488186" y="89088"/>
                </a:lnTo>
                <a:lnTo>
                  <a:pt x="501809" y="98265"/>
                </a:lnTo>
                <a:lnTo>
                  <a:pt x="510986" y="111888"/>
                </a:lnTo>
                <a:lnTo>
                  <a:pt x="514350" y="128587"/>
                </a:lnTo>
                <a:lnTo>
                  <a:pt x="510986" y="145286"/>
                </a:lnTo>
                <a:lnTo>
                  <a:pt x="501809" y="158909"/>
                </a:lnTo>
                <a:lnTo>
                  <a:pt x="488186" y="168086"/>
                </a:lnTo>
                <a:lnTo>
                  <a:pt x="471487" y="171450"/>
                </a:lnTo>
                <a:close/>
              </a:path>
              <a:path w="685800" h="600075">
                <a:moveTo>
                  <a:pt x="385762" y="300037"/>
                </a:moveTo>
                <a:lnTo>
                  <a:pt x="214312" y="300037"/>
                </a:lnTo>
                <a:lnTo>
                  <a:pt x="197613" y="296674"/>
                </a:lnTo>
                <a:lnTo>
                  <a:pt x="183990" y="287496"/>
                </a:lnTo>
                <a:lnTo>
                  <a:pt x="174813" y="273874"/>
                </a:lnTo>
                <a:lnTo>
                  <a:pt x="171450" y="257175"/>
                </a:lnTo>
                <a:lnTo>
                  <a:pt x="174813" y="240475"/>
                </a:lnTo>
                <a:lnTo>
                  <a:pt x="183990" y="226853"/>
                </a:lnTo>
                <a:lnTo>
                  <a:pt x="197613" y="217675"/>
                </a:lnTo>
                <a:lnTo>
                  <a:pt x="214312" y="214312"/>
                </a:lnTo>
                <a:lnTo>
                  <a:pt x="385762" y="214312"/>
                </a:lnTo>
                <a:lnTo>
                  <a:pt x="402461" y="217675"/>
                </a:lnTo>
                <a:lnTo>
                  <a:pt x="416084" y="226853"/>
                </a:lnTo>
                <a:lnTo>
                  <a:pt x="425261" y="240475"/>
                </a:lnTo>
                <a:lnTo>
                  <a:pt x="428625" y="257175"/>
                </a:lnTo>
                <a:lnTo>
                  <a:pt x="425261" y="273874"/>
                </a:lnTo>
                <a:lnTo>
                  <a:pt x="416084" y="287496"/>
                </a:lnTo>
                <a:lnTo>
                  <a:pt x="402461" y="296674"/>
                </a:lnTo>
                <a:lnTo>
                  <a:pt x="385762" y="300037"/>
                </a:lnTo>
                <a:close/>
              </a:path>
              <a:path w="685800" h="600075">
                <a:moveTo>
                  <a:pt x="557212" y="428625"/>
                </a:moveTo>
                <a:lnTo>
                  <a:pt x="214312" y="428625"/>
                </a:lnTo>
                <a:lnTo>
                  <a:pt x="197613" y="425261"/>
                </a:lnTo>
                <a:lnTo>
                  <a:pt x="183990" y="416084"/>
                </a:lnTo>
                <a:lnTo>
                  <a:pt x="174813" y="402461"/>
                </a:lnTo>
                <a:lnTo>
                  <a:pt x="171450" y="385762"/>
                </a:lnTo>
                <a:lnTo>
                  <a:pt x="174813" y="369063"/>
                </a:lnTo>
                <a:lnTo>
                  <a:pt x="183990" y="355440"/>
                </a:lnTo>
                <a:lnTo>
                  <a:pt x="197613" y="346263"/>
                </a:lnTo>
                <a:lnTo>
                  <a:pt x="214312" y="342900"/>
                </a:lnTo>
                <a:lnTo>
                  <a:pt x="557212" y="342900"/>
                </a:lnTo>
                <a:lnTo>
                  <a:pt x="573911" y="346263"/>
                </a:lnTo>
                <a:lnTo>
                  <a:pt x="587534" y="355440"/>
                </a:lnTo>
                <a:lnTo>
                  <a:pt x="596711" y="369063"/>
                </a:lnTo>
                <a:lnTo>
                  <a:pt x="600075" y="385762"/>
                </a:lnTo>
                <a:lnTo>
                  <a:pt x="596711" y="402461"/>
                </a:lnTo>
                <a:lnTo>
                  <a:pt x="587534" y="416084"/>
                </a:lnTo>
                <a:lnTo>
                  <a:pt x="573911" y="425261"/>
                </a:lnTo>
                <a:lnTo>
                  <a:pt x="557212" y="428625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9092E20D-A2BF-8037-455A-3A9A8FD37A74}"/>
              </a:ext>
            </a:extLst>
          </p:cNvPr>
          <p:cNvSpPr/>
          <p:nvPr/>
        </p:nvSpPr>
        <p:spPr>
          <a:xfrm>
            <a:off x="9962197" y="3165493"/>
            <a:ext cx="725805" cy="685800"/>
          </a:xfrm>
          <a:custGeom>
            <a:avLst/>
            <a:gdLst/>
            <a:ahLst/>
            <a:cxnLst/>
            <a:rect l="l" t="t" r="r" b="b"/>
            <a:pathLst>
              <a:path w="725804" h="685800">
                <a:moveTo>
                  <a:pt x="663565" y="321468"/>
                </a:moveTo>
                <a:lnTo>
                  <a:pt x="364331" y="321468"/>
                </a:lnTo>
                <a:lnTo>
                  <a:pt x="364331" y="22234"/>
                </a:lnTo>
                <a:lnTo>
                  <a:pt x="365984" y="13674"/>
                </a:lnTo>
                <a:lnTo>
                  <a:pt x="370526" y="6596"/>
                </a:lnTo>
                <a:lnTo>
                  <a:pt x="377328" y="1778"/>
                </a:lnTo>
                <a:lnTo>
                  <a:pt x="385762" y="0"/>
                </a:lnTo>
                <a:lnTo>
                  <a:pt x="434426" y="3927"/>
                </a:lnTo>
                <a:lnTo>
                  <a:pt x="480591" y="15297"/>
                </a:lnTo>
                <a:lnTo>
                  <a:pt x="523640" y="33492"/>
                </a:lnTo>
                <a:lnTo>
                  <a:pt x="562878" y="57847"/>
                </a:lnTo>
                <a:lnTo>
                  <a:pt x="597915" y="87884"/>
                </a:lnTo>
                <a:lnTo>
                  <a:pt x="627905" y="122846"/>
                </a:lnTo>
                <a:lnTo>
                  <a:pt x="652307" y="162159"/>
                </a:lnTo>
                <a:lnTo>
                  <a:pt x="670502" y="205208"/>
                </a:lnTo>
                <a:lnTo>
                  <a:pt x="681872" y="251373"/>
                </a:lnTo>
                <a:lnTo>
                  <a:pt x="685800" y="300037"/>
                </a:lnTo>
                <a:lnTo>
                  <a:pt x="684021" y="308471"/>
                </a:lnTo>
                <a:lnTo>
                  <a:pt x="679203" y="315273"/>
                </a:lnTo>
                <a:lnTo>
                  <a:pt x="672125" y="319815"/>
                </a:lnTo>
                <a:lnTo>
                  <a:pt x="663565" y="321468"/>
                </a:lnTo>
                <a:close/>
              </a:path>
              <a:path w="725804" h="685800">
                <a:moveTo>
                  <a:pt x="321468" y="685800"/>
                </a:moveTo>
                <a:lnTo>
                  <a:pt x="273979" y="682316"/>
                </a:lnTo>
                <a:lnTo>
                  <a:pt x="228647" y="672194"/>
                </a:lnTo>
                <a:lnTo>
                  <a:pt x="185973" y="655933"/>
                </a:lnTo>
                <a:lnTo>
                  <a:pt x="146454" y="634026"/>
                </a:lnTo>
                <a:lnTo>
                  <a:pt x="110587" y="606972"/>
                </a:lnTo>
                <a:lnTo>
                  <a:pt x="78872" y="575266"/>
                </a:lnTo>
                <a:lnTo>
                  <a:pt x="51806" y="539404"/>
                </a:lnTo>
                <a:lnTo>
                  <a:pt x="29888" y="499884"/>
                </a:lnTo>
                <a:lnTo>
                  <a:pt x="13615" y="457200"/>
                </a:lnTo>
                <a:lnTo>
                  <a:pt x="3487" y="411851"/>
                </a:lnTo>
                <a:lnTo>
                  <a:pt x="0" y="364331"/>
                </a:lnTo>
                <a:lnTo>
                  <a:pt x="3535" y="316513"/>
                </a:lnTo>
                <a:lnTo>
                  <a:pt x="13803" y="270885"/>
                </a:lnTo>
                <a:lnTo>
                  <a:pt x="30295" y="227958"/>
                </a:lnTo>
                <a:lnTo>
                  <a:pt x="52502" y="188241"/>
                </a:lnTo>
                <a:lnTo>
                  <a:pt x="79915" y="152245"/>
                </a:lnTo>
                <a:lnTo>
                  <a:pt x="112025" y="120481"/>
                </a:lnTo>
                <a:lnTo>
                  <a:pt x="148324" y="93458"/>
                </a:lnTo>
                <a:lnTo>
                  <a:pt x="188303" y="71687"/>
                </a:lnTo>
                <a:lnTo>
                  <a:pt x="231453" y="55679"/>
                </a:lnTo>
                <a:lnTo>
                  <a:pt x="277266" y="45943"/>
                </a:lnTo>
                <a:lnTo>
                  <a:pt x="286023" y="46679"/>
                </a:lnTo>
                <a:lnTo>
                  <a:pt x="293273" y="50932"/>
                </a:lnTo>
                <a:lnTo>
                  <a:pt x="298212" y="57847"/>
                </a:lnTo>
                <a:lnTo>
                  <a:pt x="300037" y="66570"/>
                </a:lnTo>
                <a:lnTo>
                  <a:pt x="300037" y="385762"/>
                </a:lnTo>
                <a:lnTo>
                  <a:pt x="509661" y="595386"/>
                </a:lnTo>
                <a:lnTo>
                  <a:pt x="514584" y="602990"/>
                </a:lnTo>
                <a:lnTo>
                  <a:pt x="515890" y="611510"/>
                </a:lnTo>
                <a:lnTo>
                  <a:pt x="513579" y="619704"/>
                </a:lnTo>
                <a:lnTo>
                  <a:pt x="507652" y="626328"/>
                </a:lnTo>
                <a:lnTo>
                  <a:pt x="466167" y="651443"/>
                </a:lnTo>
                <a:lnTo>
                  <a:pt x="420889" y="670128"/>
                </a:lnTo>
                <a:lnTo>
                  <a:pt x="372447" y="681781"/>
                </a:lnTo>
                <a:lnTo>
                  <a:pt x="321468" y="685800"/>
                </a:lnTo>
                <a:close/>
              </a:path>
              <a:path w="725804" h="685800">
                <a:moveTo>
                  <a:pt x="612431" y="604444"/>
                </a:moveTo>
                <a:lnTo>
                  <a:pt x="604918" y="602735"/>
                </a:lnTo>
                <a:lnTo>
                  <a:pt x="598333" y="598199"/>
                </a:lnTo>
                <a:lnTo>
                  <a:pt x="385762" y="385762"/>
                </a:lnTo>
                <a:lnTo>
                  <a:pt x="705088" y="385762"/>
                </a:lnTo>
                <a:lnTo>
                  <a:pt x="713792" y="387587"/>
                </a:lnTo>
                <a:lnTo>
                  <a:pt x="720676" y="392526"/>
                </a:lnTo>
                <a:lnTo>
                  <a:pt x="724922" y="399776"/>
                </a:lnTo>
                <a:lnTo>
                  <a:pt x="725715" y="408533"/>
                </a:lnTo>
                <a:lnTo>
                  <a:pt x="713300" y="462990"/>
                </a:lnTo>
                <a:lnTo>
                  <a:pt x="692095" y="513479"/>
                </a:lnTo>
                <a:lnTo>
                  <a:pt x="662954" y="559146"/>
                </a:lnTo>
                <a:lnTo>
                  <a:pt x="626730" y="599137"/>
                </a:lnTo>
                <a:lnTo>
                  <a:pt x="612431" y="604444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972C105C-985D-2886-BC8B-571194C440FF}"/>
              </a:ext>
            </a:extLst>
          </p:cNvPr>
          <p:cNvSpPr/>
          <p:nvPr/>
        </p:nvSpPr>
        <p:spPr>
          <a:xfrm>
            <a:off x="10025061" y="4025647"/>
            <a:ext cx="600075" cy="685800"/>
          </a:xfrm>
          <a:custGeom>
            <a:avLst/>
            <a:gdLst/>
            <a:ahLst/>
            <a:cxnLst/>
            <a:rect l="l" t="t" r="r" b="b"/>
            <a:pathLst>
              <a:path w="600075" h="685800">
                <a:moveTo>
                  <a:pt x="300037" y="278606"/>
                </a:moveTo>
                <a:lnTo>
                  <a:pt x="231246" y="275777"/>
                </a:lnTo>
                <a:lnTo>
                  <a:pt x="168095" y="267718"/>
                </a:lnTo>
                <a:lnTo>
                  <a:pt x="112385" y="255072"/>
                </a:lnTo>
                <a:lnTo>
                  <a:pt x="65919" y="238480"/>
                </a:lnTo>
                <a:lnTo>
                  <a:pt x="30498" y="218584"/>
                </a:lnTo>
                <a:lnTo>
                  <a:pt x="0" y="171450"/>
                </a:lnTo>
                <a:lnTo>
                  <a:pt x="0" y="107156"/>
                </a:lnTo>
                <a:lnTo>
                  <a:pt x="30498" y="60021"/>
                </a:lnTo>
                <a:lnTo>
                  <a:pt x="65919" y="40125"/>
                </a:lnTo>
                <a:lnTo>
                  <a:pt x="112385" y="23533"/>
                </a:lnTo>
                <a:lnTo>
                  <a:pt x="168095" y="10887"/>
                </a:lnTo>
                <a:lnTo>
                  <a:pt x="231246" y="2828"/>
                </a:lnTo>
                <a:lnTo>
                  <a:pt x="300037" y="0"/>
                </a:lnTo>
                <a:lnTo>
                  <a:pt x="368828" y="2828"/>
                </a:lnTo>
                <a:lnTo>
                  <a:pt x="431979" y="10887"/>
                </a:lnTo>
                <a:lnTo>
                  <a:pt x="487689" y="23533"/>
                </a:lnTo>
                <a:lnTo>
                  <a:pt x="534155" y="40125"/>
                </a:lnTo>
                <a:lnTo>
                  <a:pt x="569576" y="60021"/>
                </a:lnTo>
                <a:lnTo>
                  <a:pt x="600075" y="107156"/>
                </a:lnTo>
                <a:lnTo>
                  <a:pt x="600075" y="171450"/>
                </a:lnTo>
                <a:lnTo>
                  <a:pt x="569576" y="218584"/>
                </a:lnTo>
                <a:lnTo>
                  <a:pt x="534155" y="238480"/>
                </a:lnTo>
                <a:lnTo>
                  <a:pt x="487689" y="255072"/>
                </a:lnTo>
                <a:lnTo>
                  <a:pt x="431979" y="267718"/>
                </a:lnTo>
                <a:lnTo>
                  <a:pt x="368828" y="275777"/>
                </a:lnTo>
                <a:lnTo>
                  <a:pt x="300037" y="278606"/>
                </a:lnTo>
                <a:close/>
              </a:path>
              <a:path w="600075" h="685800">
                <a:moveTo>
                  <a:pt x="300037" y="492918"/>
                </a:moveTo>
                <a:lnTo>
                  <a:pt x="231246" y="490089"/>
                </a:lnTo>
                <a:lnTo>
                  <a:pt x="168095" y="482031"/>
                </a:lnTo>
                <a:lnTo>
                  <a:pt x="112385" y="469384"/>
                </a:lnTo>
                <a:lnTo>
                  <a:pt x="65919" y="452792"/>
                </a:lnTo>
                <a:lnTo>
                  <a:pt x="30498" y="432897"/>
                </a:lnTo>
                <a:lnTo>
                  <a:pt x="0" y="385762"/>
                </a:lnTo>
                <a:lnTo>
                  <a:pt x="0" y="249272"/>
                </a:lnTo>
                <a:lnTo>
                  <a:pt x="15890" y="260475"/>
                </a:lnTo>
                <a:lnTo>
                  <a:pt x="33649" y="270586"/>
                </a:lnTo>
                <a:lnTo>
                  <a:pt x="73401" y="287580"/>
                </a:lnTo>
                <a:lnTo>
                  <a:pt x="111772" y="299334"/>
                </a:lnTo>
                <a:lnTo>
                  <a:pt x="154277" y="308767"/>
                </a:lnTo>
                <a:lnTo>
                  <a:pt x="200260" y="315712"/>
                </a:lnTo>
                <a:lnTo>
                  <a:pt x="249065" y="320001"/>
                </a:lnTo>
                <a:lnTo>
                  <a:pt x="300037" y="321468"/>
                </a:lnTo>
                <a:lnTo>
                  <a:pt x="600075" y="321468"/>
                </a:lnTo>
                <a:lnTo>
                  <a:pt x="600075" y="385762"/>
                </a:lnTo>
                <a:lnTo>
                  <a:pt x="569576" y="432897"/>
                </a:lnTo>
                <a:lnTo>
                  <a:pt x="534155" y="452792"/>
                </a:lnTo>
                <a:lnTo>
                  <a:pt x="487689" y="469384"/>
                </a:lnTo>
                <a:lnTo>
                  <a:pt x="431979" y="482031"/>
                </a:lnTo>
                <a:lnTo>
                  <a:pt x="368828" y="490089"/>
                </a:lnTo>
                <a:lnTo>
                  <a:pt x="300037" y="492918"/>
                </a:lnTo>
                <a:close/>
              </a:path>
              <a:path w="600075" h="685800">
                <a:moveTo>
                  <a:pt x="600075" y="321468"/>
                </a:moveTo>
                <a:lnTo>
                  <a:pt x="300037" y="321468"/>
                </a:lnTo>
                <a:lnTo>
                  <a:pt x="351009" y="320001"/>
                </a:lnTo>
                <a:lnTo>
                  <a:pt x="399814" y="315712"/>
                </a:lnTo>
                <a:lnTo>
                  <a:pt x="445797" y="308767"/>
                </a:lnTo>
                <a:lnTo>
                  <a:pt x="488302" y="299334"/>
                </a:lnTo>
                <a:lnTo>
                  <a:pt x="526672" y="287580"/>
                </a:lnTo>
                <a:lnTo>
                  <a:pt x="566337" y="270586"/>
                </a:lnTo>
                <a:lnTo>
                  <a:pt x="600075" y="249272"/>
                </a:lnTo>
                <a:lnTo>
                  <a:pt x="600075" y="321468"/>
                </a:lnTo>
                <a:close/>
              </a:path>
              <a:path w="600075" h="685800">
                <a:moveTo>
                  <a:pt x="300037" y="685800"/>
                </a:moveTo>
                <a:lnTo>
                  <a:pt x="231246" y="682971"/>
                </a:lnTo>
                <a:lnTo>
                  <a:pt x="168095" y="674912"/>
                </a:lnTo>
                <a:lnTo>
                  <a:pt x="112385" y="662266"/>
                </a:lnTo>
                <a:lnTo>
                  <a:pt x="65919" y="645674"/>
                </a:lnTo>
                <a:lnTo>
                  <a:pt x="30498" y="625778"/>
                </a:lnTo>
                <a:lnTo>
                  <a:pt x="0" y="578643"/>
                </a:lnTo>
                <a:lnTo>
                  <a:pt x="0" y="463584"/>
                </a:lnTo>
                <a:lnTo>
                  <a:pt x="15890" y="474788"/>
                </a:lnTo>
                <a:lnTo>
                  <a:pt x="33649" y="484898"/>
                </a:lnTo>
                <a:lnTo>
                  <a:pt x="73402" y="501893"/>
                </a:lnTo>
                <a:lnTo>
                  <a:pt x="111772" y="513647"/>
                </a:lnTo>
                <a:lnTo>
                  <a:pt x="154277" y="523080"/>
                </a:lnTo>
                <a:lnTo>
                  <a:pt x="200260" y="530024"/>
                </a:lnTo>
                <a:lnTo>
                  <a:pt x="249065" y="534314"/>
                </a:lnTo>
                <a:lnTo>
                  <a:pt x="300037" y="535781"/>
                </a:lnTo>
                <a:lnTo>
                  <a:pt x="600075" y="535781"/>
                </a:lnTo>
                <a:lnTo>
                  <a:pt x="600075" y="578643"/>
                </a:lnTo>
                <a:lnTo>
                  <a:pt x="569576" y="625778"/>
                </a:lnTo>
                <a:lnTo>
                  <a:pt x="534155" y="645674"/>
                </a:lnTo>
                <a:lnTo>
                  <a:pt x="487689" y="662266"/>
                </a:lnTo>
                <a:lnTo>
                  <a:pt x="431979" y="674912"/>
                </a:lnTo>
                <a:lnTo>
                  <a:pt x="368828" y="682971"/>
                </a:lnTo>
                <a:lnTo>
                  <a:pt x="300037" y="685800"/>
                </a:lnTo>
                <a:close/>
              </a:path>
              <a:path w="600075" h="685800">
                <a:moveTo>
                  <a:pt x="600075" y="535781"/>
                </a:moveTo>
                <a:lnTo>
                  <a:pt x="300037" y="535781"/>
                </a:lnTo>
                <a:lnTo>
                  <a:pt x="351009" y="534314"/>
                </a:lnTo>
                <a:lnTo>
                  <a:pt x="399814" y="530024"/>
                </a:lnTo>
                <a:lnTo>
                  <a:pt x="445797" y="523080"/>
                </a:lnTo>
                <a:lnTo>
                  <a:pt x="488302" y="513647"/>
                </a:lnTo>
                <a:lnTo>
                  <a:pt x="526672" y="501893"/>
                </a:lnTo>
                <a:lnTo>
                  <a:pt x="566337" y="484898"/>
                </a:lnTo>
                <a:lnTo>
                  <a:pt x="600075" y="463584"/>
                </a:lnTo>
                <a:lnTo>
                  <a:pt x="600075" y="535781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308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A6C8-FE16-DF53-0537-E3202122C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00B2C9-40CF-83F3-F5A2-B59CAE59FF04}"/>
              </a:ext>
            </a:extLst>
          </p:cNvPr>
          <p:cNvSpPr txBox="1"/>
          <p:nvPr/>
        </p:nvSpPr>
        <p:spPr>
          <a:xfrm>
            <a:off x="2514600" y="380206"/>
            <a:ext cx="6268709" cy="1138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999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                                     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PROJECT PROCESS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526924-6C1F-153C-CADE-B27FD15A792B}"/>
              </a:ext>
            </a:extLst>
          </p:cNvPr>
          <p:cNvGrpSpPr/>
          <p:nvPr/>
        </p:nvGrpSpPr>
        <p:grpSpPr>
          <a:xfrm>
            <a:off x="4100037" y="1533334"/>
            <a:ext cx="3264578" cy="3257141"/>
            <a:chOff x="4314548" y="2343705"/>
            <a:chExt cx="3896957" cy="3888079"/>
          </a:xfrm>
        </p:grpSpPr>
        <p:sp>
          <p:nvSpPr>
            <p:cNvPr id="5" name="Rectangle: Diagonal Corners Snipped 4">
              <a:extLst>
                <a:ext uri="{FF2B5EF4-FFF2-40B4-BE49-F238E27FC236}">
                  <a16:creationId xmlns:a16="http://schemas.microsoft.com/office/drawing/2014/main" id="{E8CB981E-0E3A-39F8-9BDE-C912180C89E5}"/>
                </a:ext>
              </a:extLst>
            </p:cNvPr>
            <p:cNvSpPr/>
            <p:nvPr/>
          </p:nvSpPr>
          <p:spPr>
            <a:xfrm>
              <a:off x="4314548" y="2343705"/>
              <a:ext cx="1872848" cy="1872848"/>
            </a:xfrm>
            <a:prstGeom prst="snip2Diag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799" dirty="0">
                  <a:solidFill>
                    <a:schemeClr val="tx1"/>
                  </a:solidFill>
                </a:rPr>
                <a:t>1                            </a:t>
              </a:r>
            </a:p>
          </p:txBody>
        </p:sp>
        <p:sp>
          <p:nvSpPr>
            <p:cNvPr id="6" name="Rectangle: Diagonal Corners Snipped 5">
              <a:extLst>
                <a:ext uri="{FF2B5EF4-FFF2-40B4-BE49-F238E27FC236}">
                  <a16:creationId xmlns:a16="http://schemas.microsoft.com/office/drawing/2014/main" id="{187694CE-0FCA-D193-E99D-FEC3A32CD38B}"/>
                </a:ext>
              </a:extLst>
            </p:cNvPr>
            <p:cNvSpPr/>
            <p:nvPr/>
          </p:nvSpPr>
          <p:spPr>
            <a:xfrm>
              <a:off x="6338657" y="4358936"/>
              <a:ext cx="1872848" cy="1872848"/>
            </a:xfrm>
            <a:prstGeom prst="snip2Diag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799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Rectangle: Diagonal Corners Snipped 6">
              <a:extLst>
                <a:ext uri="{FF2B5EF4-FFF2-40B4-BE49-F238E27FC236}">
                  <a16:creationId xmlns:a16="http://schemas.microsoft.com/office/drawing/2014/main" id="{E46C6059-6EDB-B91E-917D-DE657F7EF170}"/>
                </a:ext>
              </a:extLst>
            </p:cNvPr>
            <p:cNvSpPr/>
            <p:nvPr/>
          </p:nvSpPr>
          <p:spPr>
            <a:xfrm rot="10800000" flipV="1">
              <a:off x="6338657" y="2343705"/>
              <a:ext cx="1872848" cy="1872848"/>
            </a:xfrm>
            <a:prstGeom prst="snip2Diag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799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Rectangle: Diagonal Corners Snipped 7">
              <a:extLst>
                <a:ext uri="{FF2B5EF4-FFF2-40B4-BE49-F238E27FC236}">
                  <a16:creationId xmlns:a16="http://schemas.microsoft.com/office/drawing/2014/main" id="{D7C668EE-C80E-EDB8-31E8-F9117973B14A}"/>
                </a:ext>
              </a:extLst>
            </p:cNvPr>
            <p:cNvSpPr/>
            <p:nvPr/>
          </p:nvSpPr>
          <p:spPr>
            <a:xfrm rot="10800000" flipV="1">
              <a:off x="4314549" y="4358936"/>
              <a:ext cx="1872848" cy="1872848"/>
            </a:xfrm>
            <a:prstGeom prst="snip2Diag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799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0B19CA1-9127-3922-16F7-7F5CFAC210D1}"/>
              </a:ext>
            </a:extLst>
          </p:cNvPr>
          <p:cNvSpPr txBox="1"/>
          <p:nvPr/>
        </p:nvSpPr>
        <p:spPr>
          <a:xfrm>
            <a:off x="1739361" y="2028115"/>
            <a:ext cx="2202479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Extract Data</a:t>
            </a:r>
            <a:r>
              <a:rPr lang="en-US" dirty="0">
                <a:solidFill>
                  <a:srgbClr val="FFC000"/>
                </a:solidFill>
                <a:latin typeface="Metropolis Medium" panose="00000600000000000000" pitchFamily="50" charset="0"/>
              </a:rPr>
              <a:t>:</a:t>
            </a:r>
            <a:endParaRPr lang="en-IN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6E78E-4F19-4FCF-2EA8-14C57A7242B5}"/>
              </a:ext>
            </a:extLst>
          </p:cNvPr>
          <p:cNvSpPr txBox="1"/>
          <p:nvPr/>
        </p:nvSpPr>
        <p:spPr>
          <a:xfrm>
            <a:off x="317845" y="2412984"/>
            <a:ext cx="3687226" cy="1200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Gather raw data from Olist's databases. Ensure comprehensive data collection covering all necessary aspects.</a:t>
            </a:r>
            <a:endParaRPr lang="en-IN" dirty="0">
              <a:solidFill>
                <a:srgbClr val="C00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B77F6-6738-D38F-E167-E32BFB2B45A2}"/>
              </a:ext>
            </a:extLst>
          </p:cNvPr>
          <p:cNvSpPr txBox="1"/>
          <p:nvPr/>
        </p:nvSpPr>
        <p:spPr>
          <a:xfrm>
            <a:off x="1777266" y="3848706"/>
            <a:ext cx="2265157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KPI &amp; Visualization:</a:t>
            </a:r>
            <a:endParaRPr lang="en-IN" b="1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821FB7-C04E-3558-A12E-FD6A8A3FCDFA}"/>
              </a:ext>
            </a:extLst>
          </p:cNvPr>
          <p:cNvSpPr txBox="1"/>
          <p:nvPr/>
        </p:nvSpPr>
        <p:spPr>
          <a:xfrm>
            <a:off x="19994" y="4264411"/>
            <a:ext cx="4022429" cy="1200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Identify KPIs: Total sales, number of orders, review scores, payment types.</a:t>
            </a:r>
          </a:p>
          <a:p>
            <a:pPr algn="r"/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Create charts and graphs to represent data trends.</a:t>
            </a:r>
            <a:endParaRPr lang="en-IN" dirty="0">
              <a:solidFill>
                <a:srgbClr val="C00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25EB98-BDA6-5DC1-5A10-31A6FF0BC5DC}"/>
              </a:ext>
            </a:extLst>
          </p:cNvPr>
          <p:cNvSpPr txBox="1"/>
          <p:nvPr/>
        </p:nvSpPr>
        <p:spPr>
          <a:xfrm>
            <a:off x="7519801" y="2141244"/>
            <a:ext cx="3941167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Transformation:</a:t>
            </a:r>
            <a:endParaRPr lang="en-IN" b="1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2EC8D8-EAD6-5BD0-60DF-FAABE5FEE0D2}"/>
              </a:ext>
            </a:extLst>
          </p:cNvPr>
          <p:cNvSpPr txBox="1"/>
          <p:nvPr/>
        </p:nvSpPr>
        <p:spPr>
          <a:xfrm>
            <a:off x="7519801" y="2510491"/>
            <a:ext cx="4469365" cy="1200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Clean and prepare data.</a:t>
            </a:r>
          </a:p>
          <a:p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Handle missing values, remove duplicates, correct errors. </a:t>
            </a:r>
          </a:p>
          <a:p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Standardize data formats. </a:t>
            </a:r>
            <a:endParaRPr lang="en-IN" dirty="0">
              <a:solidFill>
                <a:srgbClr val="C00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04A6A4-7CDB-8030-FF4A-415C3F87AA1C}"/>
              </a:ext>
            </a:extLst>
          </p:cNvPr>
          <p:cNvSpPr txBox="1"/>
          <p:nvPr/>
        </p:nvSpPr>
        <p:spPr>
          <a:xfrm>
            <a:off x="7519801" y="3848706"/>
            <a:ext cx="3941167" cy="369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Metropolis Medium" panose="00000600000000000000" pitchFamily="50" charset="0"/>
              </a:rPr>
              <a:t>Dashboard:</a:t>
            </a:r>
            <a:endParaRPr lang="en-IN" b="1" dirty="0">
              <a:solidFill>
                <a:srgbClr val="FFC000"/>
              </a:solidFill>
              <a:latin typeface="Metropolis Medium" panose="00000600000000000000" pitchFamily="50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46E279-A5C7-F5E3-184B-A619C8C472D4}"/>
              </a:ext>
            </a:extLst>
          </p:cNvPr>
          <p:cNvSpPr txBox="1"/>
          <p:nvPr/>
        </p:nvSpPr>
        <p:spPr>
          <a:xfrm>
            <a:off x="7519800" y="4264411"/>
            <a:ext cx="4245897" cy="923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Develop an interactive dashboard to present findings.</a:t>
            </a:r>
          </a:p>
          <a:p>
            <a:r>
              <a:rPr lang="en-US" dirty="0">
                <a:solidFill>
                  <a:srgbClr val="C00000"/>
                </a:solidFill>
                <a:latin typeface="Metropolis Medium" panose="00000600000000000000" pitchFamily="50" charset="0"/>
              </a:rPr>
              <a:t>Design layout for clarity and impact.</a:t>
            </a:r>
            <a:endParaRPr lang="en-IN" dirty="0">
              <a:solidFill>
                <a:srgbClr val="C00000"/>
              </a:solidFill>
              <a:latin typeface="Metropolis Medium" panose="00000600000000000000" pitchFamily="50" charset="0"/>
            </a:endParaRPr>
          </a:p>
        </p:txBody>
      </p:sp>
      <p:pic>
        <p:nvPicPr>
          <p:cNvPr id="2" name="object 4">
            <a:extLst>
              <a:ext uri="{FF2B5EF4-FFF2-40B4-BE49-F238E27FC236}">
                <a16:creationId xmlns:a16="http://schemas.microsoft.com/office/drawing/2014/main" id="{3763F5C1-E24B-3C98-80C1-F40BA1ACD9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730" y="1711141"/>
            <a:ext cx="762000" cy="674606"/>
          </a:xfrm>
          <a:prstGeom prst="rect">
            <a:avLst/>
          </a:prstGeom>
        </p:spPr>
      </p:pic>
      <p:grpSp>
        <p:nvGrpSpPr>
          <p:cNvPr id="9" name="object 7">
            <a:extLst>
              <a:ext uri="{FF2B5EF4-FFF2-40B4-BE49-F238E27FC236}">
                <a16:creationId xmlns:a16="http://schemas.microsoft.com/office/drawing/2014/main" id="{620CB855-89E3-2376-0611-916961907762}"/>
              </a:ext>
            </a:extLst>
          </p:cNvPr>
          <p:cNvGrpSpPr/>
          <p:nvPr/>
        </p:nvGrpSpPr>
        <p:grpSpPr>
          <a:xfrm>
            <a:off x="9372600" y="1875435"/>
            <a:ext cx="685420" cy="674606"/>
            <a:chOff x="5714999" y="2666999"/>
            <a:chExt cx="762000" cy="762000"/>
          </a:xfrm>
        </p:grpSpPr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F26D7C4B-59BC-65E1-3B18-83769084A02B}"/>
                </a:ext>
              </a:extLst>
            </p:cNvPr>
            <p:cNvSpPr/>
            <p:nvPr/>
          </p:nvSpPr>
          <p:spPr>
            <a:xfrm>
              <a:off x="5724524" y="2676524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371474" y="742949"/>
                  </a:moveTo>
                  <a:lnTo>
                    <a:pt x="325999" y="740156"/>
                  </a:lnTo>
                  <a:lnTo>
                    <a:pt x="281213" y="731817"/>
                  </a:lnTo>
                  <a:lnTo>
                    <a:pt x="237784" y="718059"/>
                  </a:lnTo>
                  <a:lnTo>
                    <a:pt x="196362" y="699086"/>
                  </a:lnTo>
                  <a:lnTo>
                    <a:pt x="157573" y="675185"/>
                  </a:lnTo>
                  <a:lnTo>
                    <a:pt x="122007" y="646719"/>
                  </a:lnTo>
                  <a:lnTo>
                    <a:pt x="90192" y="614114"/>
                  </a:lnTo>
                  <a:lnTo>
                    <a:pt x="62604" y="577854"/>
                  </a:lnTo>
                  <a:lnTo>
                    <a:pt x="39663" y="538491"/>
                  </a:lnTo>
                  <a:lnTo>
                    <a:pt x="21714" y="496620"/>
                  </a:lnTo>
                  <a:lnTo>
                    <a:pt x="9026" y="452868"/>
                  </a:lnTo>
                  <a:lnTo>
                    <a:pt x="1788" y="407885"/>
                  </a:lnTo>
                  <a:lnTo>
                    <a:pt x="0" y="371474"/>
                  </a:lnTo>
                  <a:lnTo>
                    <a:pt x="111" y="362355"/>
                  </a:lnTo>
                  <a:lnTo>
                    <a:pt x="4020" y="316968"/>
                  </a:lnTo>
                  <a:lnTo>
                    <a:pt x="13455" y="272400"/>
                  </a:lnTo>
                  <a:lnTo>
                    <a:pt x="28276" y="229317"/>
                  </a:lnTo>
                  <a:lnTo>
                    <a:pt x="48260" y="188373"/>
                  </a:lnTo>
                  <a:lnTo>
                    <a:pt x="73102" y="150187"/>
                  </a:lnTo>
                  <a:lnTo>
                    <a:pt x="102433" y="115329"/>
                  </a:lnTo>
                  <a:lnTo>
                    <a:pt x="135813" y="84321"/>
                  </a:lnTo>
                  <a:lnTo>
                    <a:pt x="172738" y="57631"/>
                  </a:lnTo>
                  <a:lnTo>
                    <a:pt x="212648" y="35665"/>
                  </a:lnTo>
                  <a:lnTo>
                    <a:pt x="254947" y="18749"/>
                  </a:lnTo>
                  <a:lnTo>
                    <a:pt x="299003" y="7137"/>
                  </a:lnTo>
                  <a:lnTo>
                    <a:pt x="344150" y="1006"/>
                  </a:lnTo>
                  <a:lnTo>
                    <a:pt x="371474" y="0"/>
                  </a:lnTo>
                  <a:lnTo>
                    <a:pt x="380594" y="111"/>
                  </a:lnTo>
                  <a:lnTo>
                    <a:pt x="425981" y="4020"/>
                  </a:lnTo>
                  <a:lnTo>
                    <a:pt x="470548" y="13455"/>
                  </a:lnTo>
                  <a:lnTo>
                    <a:pt x="513631" y="28276"/>
                  </a:lnTo>
                  <a:lnTo>
                    <a:pt x="554576" y="48260"/>
                  </a:lnTo>
                  <a:lnTo>
                    <a:pt x="592762" y="73103"/>
                  </a:lnTo>
                  <a:lnTo>
                    <a:pt x="627619" y="102433"/>
                  </a:lnTo>
                  <a:lnTo>
                    <a:pt x="658628" y="135814"/>
                  </a:lnTo>
                  <a:lnTo>
                    <a:pt x="685317" y="172738"/>
                  </a:lnTo>
                  <a:lnTo>
                    <a:pt x="707283" y="212648"/>
                  </a:lnTo>
                  <a:lnTo>
                    <a:pt x="724199" y="254947"/>
                  </a:lnTo>
                  <a:lnTo>
                    <a:pt x="735811" y="299003"/>
                  </a:lnTo>
                  <a:lnTo>
                    <a:pt x="741943" y="344150"/>
                  </a:lnTo>
                  <a:lnTo>
                    <a:pt x="742949" y="371474"/>
                  </a:lnTo>
                  <a:lnTo>
                    <a:pt x="742838" y="380594"/>
                  </a:lnTo>
                  <a:lnTo>
                    <a:pt x="738929" y="425981"/>
                  </a:lnTo>
                  <a:lnTo>
                    <a:pt x="729494" y="470549"/>
                  </a:lnTo>
                  <a:lnTo>
                    <a:pt x="714672" y="513631"/>
                  </a:lnTo>
                  <a:lnTo>
                    <a:pt x="694688" y="554576"/>
                  </a:lnTo>
                  <a:lnTo>
                    <a:pt x="669846" y="592762"/>
                  </a:lnTo>
                  <a:lnTo>
                    <a:pt x="640516" y="627619"/>
                  </a:lnTo>
                  <a:lnTo>
                    <a:pt x="607136" y="658628"/>
                  </a:lnTo>
                  <a:lnTo>
                    <a:pt x="570210" y="685318"/>
                  </a:lnTo>
                  <a:lnTo>
                    <a:pt x="530300" y="707284"/>
                  </a:lnTo>
                  <a:lnTo>
                    <a:pt x="488001" y="724200"/>
                  </a:lnTo>
                  <a:lnTo>
                    <a:pt x="443945" y="735812"/>
                  </a:lnTo>
                  <a:lnTo>
                    <a:pt x="398799" y="741943"/>
                  </a:lnTo>
                  <a:lnTo>
                    <a:pt x="371474" y="742949"/>
                  </a:lnTo>
                  <a:close/>
                </a:path>
              </a:pathLst>
            </a:custGeom>
            <a:solidFill>
              <a:srgbClr val="F0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AC4841A3-CD1C-B3C6-53E1-383D47D4793F}"/>
                </a:ext>
              </a:extLst>
            </p:cNvPr>
            <p:cNvSpPr/>
            <p:nvPr/>
          </p:nvSpPr>
          <p:spPr>
            <a:xfrm>
              <a:off x="5724524" y="2676524"/>
              <a:ext cx="742950" cy="742950"/>
            </a:xfrm>
            <a:custGeom>
              <a:avLst/>
              <a:gdLst/>
              <a:ahLst/>
              <a:cxnLst/>
              <a:rect l="l" t="t" r="r" b="b"/>
              <a:pathLst>
                <a:path w="742950" h="742950">
                  <a:moveTo>
                    <a:pt x="742949" y="371474"/>
                  </a:moveTo>
                  <a:lnTo>
                    <a:pt x="740155" y="416949"/>
                  </a:lnTo>
                  <a:lnTo>
                    <a:pt x="731817" y="461735"/>
                  </a:lnTo>
                  <a:lnTo>
                    <a:pt x="718058" y="505163"/>
                  </a:lnTo>
                  <a:lnTo>
                    <a:pt x="699085" y="546586"/>
                  </a:lnTo>
                  <a:lnTo>
                    <a:pt x="675185" y="585375"/>
                  </a:lnTo>
                  <a:lnTo>
                    <a:pt x="646719" y="620942"/>
                  </a:lnTo>
                  <a:lnTo>
                    <a:pt x="614114" y="652757"/>
                  </a:lnTo>
                  <a:lnTo>
                    <a:pt x="577854" y="680344"/>
                  </a:lnTo>
                  <a:lnTo>
                    <a:pt x="538491" y="703286"/>
                  </a:lnTo>
                  <a:lnTo>
                    <a:pt x="496620" y="721235"/>
                  </a:lnTo>
                  <a:lnTo>
                    <a:pt x="452867" y="733923"/>
                  </a:lnTo>
                  <a:lnTo>
                    <a:pt x="407885" y="741161"/>
                  </a:lnTo>
                  <a:lnTo>
                    <a:pt x="371474" y="742949"/>
                  </a:lnTo>
                  <a:lnTo>
                    <a:pt x="362355" y="742838"/>
                  </a:lnTo>
                  <a:lnTo>
                    <a:pt x="316968" y="738929"/>
                  </a:lnTo>
                  <a:lnTo>
                    <a:pt x="272400" y="729494"/>
                  </a:lnTo>
                  <a:lnTo>
                    <a:pt x="229316" y="714672"/>
                  </a:lnTo>
                  <a:lnTo>
                    <a:pt x="188373" y="694689"/>
                  </a:lnTo>
                  <a:lnTo>
                    <a:pt x="150187" y="669846"/>
                  </a:lnTo>
                  <a:lnTo>
                    <a:pt x="115329" y="640516"/>
                  </a:lnTo>
                  <a:lnTo>
                    <a:pt x="84321" y="607135"/>
                  </a:lnTo>
                  <a:lnTo>
                    <a:pt x="57631" y="570210"/>
                  </a:lnTo>
                  <a:lnTo>
                    <a:pt x="35665" y="530300"/>
                  </a:lnTo>
                  <a:lnTo>
                    <a:pt x="18749" y="488002"/>
                  </a:lnTo>
                  <a:lnTo>
                    <a:pt x="7137" y="443945"/>
                  </a:lnTo>
                  <a:lnTo>
                    <a:pt x="1006" y="398799"/>
                  </a:lnTo>
                  <a:lnTo>
                    <a:pt x="0" y="371474"/>
                  </a:lnTo>
                  <a:lnTo>
                    <a:pt x="111" y="362355"/>
                  </a:lnTo>
                  <a:lnTo>
                    <a:pt x="4020" y="316968"/>
                  </a:lnTo>
                  <a:lnTo>
                    <a:pt x="13455" y="272400"/>
                  </a:lnTo>
                  <a:lnTo>
                    <a:pt x="28276" y="229317"/>
                  </a:lnTo>
                  <a:lnTo>
                    <a:pt x="48260" y="188373"/>
                  </a:lnTo>
                  <a:lnTo>
                    <a:pt x="73102" y="150187"/>
                  </a:lnTo>
                  <a:lnTo>
                    <a:pt x="102433" y="115329"/>
                  </a:lnTo>
                  <a:lnTo>
                    <a:pt x="135813" y="84321"/>
                  </a:lnTo>
                  <a:lnTo>
                    <a:pt x="172738" y="57631"/>
                  </a:lnTo>
                  <a:lnTo>
                    <a:pt x="212648" y="35665"/>
                  </a:lnTo>
                  <a:lnTo>
                    <a:pt x="254947" y="18749"/>
                  </a:lnTo>
                  <a:lnTo>
                    <a:pt x="299003" y="7137"/>
                  </a:lnTo>
                  <a:lnTo>
                    <a:pt x="344150" y="1006"/>
                  </a:lnTo>
                  <a:lnTo>
                    <a:pt x="371474" y="0"/>
                  </a:lnTo>
                  <a:lnTo>
                    <a:pt x="380594" y="111"/>
                  </a:lnTo>
                  <a:lnTo>
                    <a:pt x="425981" y="4020"/>
                  </a:lnTo>
                  <a:lnTo>
                    <a:pt x="470548" y="13455"/>
                  </a:lnTo>
                  <a:lnTo>
                    <a:pt x="513631" y="28276"/>
                  </a:lnTo>
                  <a:lnTo>
                    <a:pt x="554576" y="48260"/>
                  </a:lnTo>
                  <a:lnTo>
                    <a:pt x="592762" y="73103"/>
                  </a:lnTo>
                  <a:lnTo>
                    <a:pt x="627619" y="102433"/>
                  </a:lnTo>
                  <a:lnTo>
                    <a:pt x="658628" y="135814"/>
                  </a:lnTo>
                  <a:lnTo>
                    <a:pt x="685317" y="172738"/>
                  </a:lnTo>
                  <a:lnTo>
                    <a:pt x="707283" y="212648"/>
                  </a:lnTo>
                  <a:lnTo>
                    <a:pt x="724199" y="254947"/>
                  </a:lnTo>
                  <a:lnTo>
                    <a:pt x="735811" y="299003"/>
                  </a:lnTo>
                  <a:lnTo>
                    <a:pt x="741943" y="344150"/>
                  </a:lnTo>
                  <a:lnTo>
                    <a:pt x="742949" y="3714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F28111D3-C1F0-0348-9745-2BC85B38AB55}"/>
                </a:ext>
              </a:extLst>
            </p:cNvPr>
            <p:cNvSpPr/>
            <p:nvPr/>
          </p:nvSpPr>
          <p:spPr>
            <a:xfrm>
              <a:off x="5924600" y="287660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55260" y="342799"/>
                  </a:moveTo>
                  <a:lnTo>
                    <a:pt x="9392" y="310234"/>
                  </a:lnTo>
                  <a:lnTo>
                    <a:pt x="0" y="287521"/>
                  </a:lnTo>
                  <a:lnTo>
                    <a:pt x="2348" y="275415"/>
                  </a:lnTo>
                  <a:lnTo>
                    <a:pt x="9392" y="264759"/>
                  </a:lnTo>
                  <a:lnTo>
                    <a:pt x="264759" y="9392"/>
                  </a:lnTo>
                  <a:lnTo>
                    <a:pt x="275377" y="2348"/>
                  </a:lnTo>
                  <a:lnTo>
                    <a:pt x="287471" y="0"/>
                  </a:lnTo>
                  <a:lnTo>
                    <a:pt x="299578" y="2348"/>
                  </a:lnTo>
                  <a:lnTo>
                    <a:pt x="310234" y="9392"/>
                  </a:lnTo>
                  <a:lnTo>
                    <a:pt x="333406" y="32565"/>
                  </a:lnTo>
                  <a:lnTo>
                    <a:pt x="338116" y="39664"/>
                  </a:lnTo>
                  <a:lnTo>
                    <a:pt x="287530" y="39664"/>
                  </a:lnTo>
                  <a:lnTo>
                    <a:pt x="217209" y="109985"/>
                  </a:lnTo>
                  <a:lnTo>
                    <a:pt x="232813" y="125590"/>
                  </a:lnTo>
                  <a:lnTo>
                    <a:pt x="285843" y="125590"/>
                  </a:lnTo>
                  <a:lnTo>
                    <a:pt x="77972" y="333406"/>
                  </a:lnTo>
                  <a:lnTo>
                    <a:pt x="67354" y="340451"/>
                  </a:lnTo>
                  <a:lnTo>
                    <a:pt x="55260" y="342799"/>
                  </a:lnTo>
                  <a:close/>
                </a:path>
                <a:path w="342900" h="342900">
                  <a:moveTo>
                    <a:pt x="285843" y="125590"/>
                  </a:moveTo>
                  <a:lnTo>
                    <a:pt x="232746" y="125590"/>
                  </a:lnTo>
                  <a:lnTo>
                    <a:pt x="303068" y="55269"/>
                  </a:lnTo>
                  <a:lnTo>
                    <a:pt x="287530" y="39664"/>
                  </a:lnTo>
                  <a:lnTo>
                    <a:pt x="338116" y="39664"/>
                  </a:lnTo>
                  <a:lnTo>
                    <a:pt x="340451" y="43183"/>
                  </a:lnTo>
                  <a:lnTo>
                    <a:pt x="342797" y="55269"/>
                  </a:lnTo>
                  <a:lnTo>
                    <a:pt x="340451" y="67383"/>
                  </a:lnTo>
                  <a:lnTo>
                    <a:pt x="333406" y="78039"/>
                  </a:lnTo>
                  <a:lnTo>
                    <a:pt x="285843" y="12559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0">
            <a:extLst>
              <a:ext uri="{FF2B5EF4-FFF2-40B4-BE49-F238E27FC236}">
                <a16:creationId xmlns:a16="http://schemas.microsoft.com/office/drawing/2014/main" id="{62CE0D6D-C164-D5D1-558E-0CAE4F7246D1}"/>
              </a:ext>
            </a:extLst>
          </p:cNvPr>
          <p:cNvSpPr/>
          <p:nvPr/>
        </p:nvSpPr>
        <p:spPr>
          <a:xfrm>
            <a:off x="1392664" y="3760943"/>
            <a:ext cx="558066" cy="457010"/>
          </a:xfrm>
          <a:custGeom>
            <a:avLst/>
            <a:gdLst/>
            <a:ahLst/>
            <a:cxnLst/>
            <a:rect l="l" t="t" r="r" b="b"/>
            <a:pathLst>
              <a:path w="685800" h="600075">
                <a:moveTo>
                  <a:pt x="642937" y="600075"/>
                </a:moveTo>
                <a:lnTo>
                  <a:pt x="107156" y="600075"/>
                </a:lnTo>
                <a:lnTo>
                  <a:pt x="65436" y="591657"/>
                </a:lnTo>
                <a:lnTo>
                  <a:pt x="31376" y="568698"/>
                </a:lnTo>
                <a:lnTo>
                  <a:pt x="8417" y="534638"/>
                </a:lnTo>
                <a:lnTo>
                  <a:pt x="0" y="492918"/>
                </a:lnTo>
                <a:lnTo>
                  <a:pt x="0" y="42862"/>
                </a:lnTo>
                <a:lnTo>
                  <a:pt x="3363" y="26163"/>
                </a:lnTo>
                <a:lnTo>
                  <a:pt x="12540" y="12540"/>
                </a:lnTo>
                <a:lnTo>
                  <a:pt x="26163" y="3363"/>
                </a:lnTo>
                <a:lnTo>
                  <a:pt x="42862" y="0"/>
                </a:lnTo>
                <a:lnTo>
                  <a:pt x="59561" y="3363"/>
                </a:lnTo>
                <a:lnTo>
                  <a:pt x="73184" y="12540"/>
                </a:lnTo>
                <a:lnTo>
                  <a:pt x="82361" y="26163"/>
                </a:lnTo>
                <a:lnTo>
                  <a:pt x="85725" y="42862"/>
                </a:lnTo>
                <a:lnTo>
                  <a:pt x="85725" y="492918"/>
                </a:lnTo>
                <a:lnTo>
                  <a:pt x="87416" y="501240"/>
                </a:lnTo>
                <a:lnTo>
                  <a:pt x="92020" y="508054"/>
                </a:lnTo>
                <a:lnTo>
                  <a:pt x="98834" y="512658"/>
                </a:lnTo>
                <a:lnTo>
                  <a:pt x="107156" y="514350"/>
                </a:lnTo>
                <a:lnTo>
                  <a:pt x="642937" y="514350"/>
                </a:lnTo>
                <a:lnTo>
                  <a:pt x="659636" y="517713"/>
                </a:lnTo>
                <a:lnTo>
                  <a:pt x="673259" y="526890"/>
                </a:lnTo>
                <a:lnTo>
                  <a:pt x="682436" y="540513"/>
                </a:lnTo>
                <a:lnTo>
                  <a:pt x="685800" y="557212"/>
                </a:lnTo>
                <a:lnTo>
                  <a:pt x="682436" y="573911"/>
                </a:lnTo>
                <a:lnTo>
                  <a:pt x="673259" y="587534"/>
                </a:lnTo>
                <a:lnTo>
                  <a:pt x="659636" y="596711"/>
                </a:lnTo>
                <a:lnTo>
                  <a:pt x="642937" y="600075"/>
                </a:lnTo>
                <a:close/>
              </a:path>
              <a:path w="685800" h="600075">
                <a:moveTo>
                  <a:pt x="471487" y="171450"/>
                </a:moveTo>
                <a:lnTo>
                  <a:pt x="214312" y="171450"/>
                </a:lnTo>
                <a:lnTo>
                  <a:pt x="197613" y="168086"/>
                </a:lnTo>
                <a:lnTo>
                  <a:pt x="183990" y="158909"/>
                </a:lnTo>
                <a:lnTo>
                  <a:pt x="174813" y="145286"/>
                </a:lnTo>
                <a:lnTo>
                  <a:pt x="171450" y="128587"/>
                </a:lnTo>
                <a:lnTo>
                  <a:pt x="174813" y="111888"/>
                </a:lnTo>
                <a:lnTo>
                  <a:pt x="183990" y="98265"/>
                </a:lnTo>
                <a:lnTo>
                  <a:pt x="197613" y="89088"/>
                </a:lnTo>
                <a:lnTo>
                  <a:pt x="214312" y="85725"/>
                </a:lnTo>
                <a:lnTo>
                  <a:pt x="471487" y="85725"/>
                </a:lnTo>
                <a:lnTo>
                  <a:pt x="488186" y="89088"/>
                </a:lnTo>
                <a:lnTo>
                  <a:pt x="501809" y="98265"/>
                </a:lnTo>
                <a:lnTo>
                  <a:pt x="510986" y="111888"/>
                </a:lnTo>
                <a:lnTo>
                  <a:pt x="514350" y="128587"/>
                </a:lnTo>
                <a:lnTo>
                  <a:pt x="510986" y="145286"/>
                </a:lnTo>
                <a:lnTo>
                  <a:pt x="501809" y="158909"/>
                </a:lnTo>
                <a:lnTo>
                  <a:pt x="488186" y="168086"/>
                </a:lnTo>
                <a:lnTo>
                  <a:pt x="471487" y="171450"/>
                </a:lnTo>
                <a:close/>
              </a:path>
              <a:path w="685800" h="600075">
                <a:moveTo>
                  <a:pt x="385762" y="300037"/>
                </a:moveTo>
                <a:lnTo>
                  <a:pt x="214312" y="300037"/>
                </a:lnTo>
                <a:lnTo>
                  <a:pt x="197613" y="296674"/>
                </a:lnTo>
                <a:lnTo>
                  <a:pt x="183990" y="287496"/>
                </a:lnTo>
                <a:lnTo>
                  <a:pt x="174813" y="273874"/>
                </a:lnTo>
                <a:lnTo>
                  <a:pt x="171450" y="257175"/>
                </a:lnTo>
                <a:lnTo>
                  <a:pt x="174813" y="240475"/>
                </a:lnTo>
                <a:lnTo>
                  <a:pt x="183990" y="226853"/>
                </a:lnTo>
                <a:lnTo>
                  <a:pt x="197613" y="217675"/>
                </a:lnTo>
                <a:lnTo>
                  <a:pt x="214312" y="214312"/>
                </a:lnTo>
                <a:lnTo>
                  <a:pt x="385762" y="214312"/>
                </a:lnTo>
                <a:lnTo>
                  <a:pt x="402461" y="217675"/>
                </a:lnTo>
                <a:lnTo>
                  <a:pt x="416084" y="226853"/>
                </a:lnTo>
                <a:lnTo>
                  <a:pt x="425261" y="240475"/>
                </a:lnTo>
                <a:lnTo>
                  <a:pt x="428625" y="257175"/>
                </a:lnTo>
                <a:lnTo>
                  <a:pt x="425261" y="273874"/>
                </a:lnTo>
                <a:lnTo>
                  <a:pt x="416084" y="287496"/>
                </a:lnTo>
                <a:lnTo>
                  <a:pt x="402461" y="296674"/>
                </a:lnTo>
                <a:lnTo>
                  <a:pt x="385762" y="300037"/>
                </a:lnTo>
                <a:close/>
              </a:path>
              <a:path w="685800" h="600075">
                <a:moveTo>
                  <a:pt x="557212" y="428625"/>
                </a:moveTo>
                <a:lnTo>
                  <a:pt x="214312" y="428625"/>
                </a:lnTo>
                <a:lnTo>
                  <a:pt x="197613" y="425261"/>
                </a:lnTo>
                <a:lnTo>
                  <a:pt x="183990" y="416084"/>
                </a:lnTo>
                <a:lnTo>
                  <a:pt x="174813" y="402461"/>
                </a:lnTo>
                <a:lnTo>
                  <a:pt x="171450" y="385762"/>
                </a:lnTo>
                <a:lnTo>
                  <a:pt x="174813" y="369063"/>
                </a:lnTo>
                <a:lnTo>
                  <a:pt x="183990" y="355440"/>
                </a:lnTo>
                <a:lnTo>
                  <a:pt x="197613" y="346263"/>
                </a:lnTo>
                <a:lnTo>
                  <a:pt x="214312" y="342900"/>
                </a:lnTo>
                <a:lnTo>
                  <a:pt x="557212" y="342900"/>
                </a:lnTo>
                <a:lnTo>
                  <a:pt x="573911" y="346263"/>
                </a:lnTo>
                <a:lnTo>
                  <a:pt x="587534" y="355440"/>
                </a:lnTo>
                <a:lnTo>
                  <a:pt x="596711" y="369063"/>
                </a:lnTo>
                <a:lnTo>
                  <a:pt x="600075" y="385762"/>
                </a:lnTo>
                <a:lnTo>
                  <a:pt x="596711" y="402461"/>
                </a:lnTo>
                <a:lnTo>
                  <a:pt x="587534" y="416084"/>
                </a:lnTo>
                <a:lnTo>
                  <a:pt x="573911" y="425261"/>
                </a:lnTo>
                <a:lnTo>
                  <a:pt x="557212" y="428625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38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8B79-98F0-5465-C66B-70D99631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174DFE-CCFE-554B-DBE6-538DC1B53A6E}"/>
              </a:ext>
            </a:extLst>
          </p:cNvPr>
          <p:cNvSpPr txBox="1"/>
          <p:nvPr/>
        </p:nvSpPr>
        <p:spPr>
          <a:xfrm>
            <a:off x="3048706" y="552923"/>
            <a:ext cx="60945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TOOLS USED FOR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1A8873-2688-BA9F-E40E-0CB496467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190" y="1685130"/>
            <a:ext cx="1719052" cy="1615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6145E4-FE27-76BB-D94A-09D8AC51E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249" y="1447006"/>
            <a:ext cx="3533361" cy="1945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519EBB-68F2-7076-C6D7-D76C58444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809" y="3409043"/>
            <a:ext cx="2484223" cy="2080563"/>
          </a:xfrm>
          <a:prstGeom prst="rect">
            <a:avLst/>
          </a:prstGeom>
        </p:spPr>
      </p:pic>
      <p:pic>
        <p:nvPicPr>
          <p:cNvPr id="7" name="Picture 6" descr="Power BI Logo, symbol, meaning, history, PNG, brand">
            <a:extLst>
              <a:ext uri="{FF2B5EF4-FFF2-40B4-BE49-F238E27FC236}">
                <a16:creationId xmlns:a16="http://schemas.microsoft.com/office/drawing/2014/main" id="{380B9B46-7C62-1F05-3483-2132C2ABDA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73"/>
          <a:stretch/>
        </p:blipFill>
        <p:spPr bwMode="auto">
          <a:xfrm>
            <a:off x="6090249" y="3199606"/>
            <a:ext cx="4072245" cy="189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31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774B-6B50-B382-E2C9-90BA46869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-305593"/>
            <a:ext cx="12038189" cy="7162006"/>
          </a:xfrm>
        </p:spPr>
        <p:txBody>
          <a:bodyPr/>
          <a:lstStyle/>
          <a:p>
            <a:pPr marL="0" indent="0"/>
            <a:endParaRPr lang="en-US" sz="3199" dirty="0">
              <a:solidFill>
                <a:schemeClr val="accent1"/>
              </a:solidFill>
            </a:endParaRPr>
          </a:p>
          <a:p>
            <a:pPr marL="0" indent="0"/>
            <a:r>
              <a:rPr lang="en-US" sz="3199" dirty="0">
                <a:solidFill>
                  <a:schemeClr val="accent1"/>
                </a:solidFill>
                <a:latin typeface="Algerian" panose="04020705040A02060702" pitchFamily="82" charset="0"/>
              </a:rPr>
              <a:t> 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KPI-1: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Weekday vs Weekend Payment Statistics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0" indent="0"/>
            <a:endParaRPr lang="en-GB" dirty="0"/>
          </a:p>
          <a:p>
            <a:pPr marL="0" indent="0"/>
            <a:endParaRPr lang="en-GB" dirty="0"/>
          </a:p>
          <a:p>
            <a:pPr marL="0" indent="0" algn="just"/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86C78-D661-F16E-E278-9F429C82D38C}"/>
              </a:ext>
            </a:extLst>
          </p:cNvPr>
          <p:cNvSpPr txBox="1"/>
          <p:nvPr/>
        </p:nvSpPr>
        <p:spPr>
          <a:xfrm>
            <a:off x="5029200" y="1142206"/>
            <a:ext cx="6477000" cy="437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The analysis shows that </a:t>
            </a:r>
            <a:r>
              <a:rPr lang="en-GB" b="1" dirty="0"/>
              <a:t>77% of total payments occur on weekdays</a:t>
            </a:r>
            <a:r>
              <a:rPr lang="en-GB" dirty="0"/>
              <a:t>, while </a:t>
            </a:r>
            <a:r>
              <a:rPr lang="en-GB" b="1" dirty="0"/>
              <a:t>23% occur on weekends</a:t>
            </a:r>
            <a:r>
              <a:rPr lang="en-GB" dirty="0"/>
              <a:t>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This indicates that </a:t>
            </a:r>
            <a:r>
              <a:rPr lang="en-GB" b="1" dirty="0"/>
              <a:t>weekday payments are approximately 3.4 times higher than weekend payments</a:t>
            </a:r>
            <a:r>
              <a:rPr lang="en-GB" dirty="0"/>
              <a:t>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The data highlights that </a:t>
            </a:r>
            <a:r>
              <a:rPr lang="en-GB" b="1" dirty="0"/>
              <a:t>most customers prefer making purchases during weekdays</a:t>
            </a:r>
            <a:r>
              <a:rPr lang="en-GB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Business Insight</a:t>
            </a:r>
          </a:p>
          <a:p>
            <a:endParaRPr lang="en-GB" b="1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Businesses can </a:t>
            </a:r>
            <a:r>
              <a:rPr lang="en-GB" b="1" dirty="0"/>
              <a:t>focus marketing strategies and promotions during high-traffic weekday periods</a:t>
            </a:r>
            <a:r>
              <a:rPr lang="en-GB" dirty="0"/>
              <a:t> to maximize revenue.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04999-18F7-EB66-204B-AB6DC53B1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8406"/>
            <a:ext cx="417503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86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77C5D-8FF9-986E-81DD-8C11A127D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" y="-9830"/>
            <a:ext cx="12189177" cy="6856412"/>
          </a:xfrm>
        </p:spPr>
        <p:txBody>
          <a:bodyPr>
            <a:normAutofit/>
          </a:bodyPr>
          <a:lstStyle/>
          <a:p>
            <a:pPr marL="0" indent="0"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KPI-2-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Number of Orders with Review Score 5 and Credit Card Payment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B05B0-2E9F-10D5-8586-C4BA063EBC30}"/>
              </a:ext>
            </a:extLst>
          </p:cNvPr>
          <p:cNvSpPr txBox="1"/>
          <p:nvPr/>
        </p:nvSpPr>
        <p:spPr>
          <a:xfrm>
            <a:off x="4876800" y="761205"/>
            <a:ext cx="7391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This KPI measures the </a:t>
            </a:r>
            <a:r>
              <a:rPr lang="en-GB" b="1" dirty="0"/>
              <a:t>number of orders that received a review score of 5 and were paid using credit cards</a:t>
            </a:r>
            <a:r>
              <a:rPr lang="en-GB" dirty="0"/>
              <a:t>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The analysis shows that </a:t>
            </a:r>
            <a:r>
              <a:rPr lang="en-GB" b="1" dirty="0"/>
              <a:t>43,981 orders received a 5-star review with credit card payment</a:t>
            </a:r>
            <a:r>
              <a:rPr lang="en-GB" dirty="0"/>
              <a:t>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This indicates that </a:t>
            </a:r>
            <a:r>
              <a:rPr lang="en-GB" b="1" dirty="0"/>
              <a:t>credit cards are a commonly used payment method among highly satisfied customers</a:t>
            </a:r>
            <a:r>
              <a:rPr lang="en-GB" dirty="0"/>
              <a:t>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The results help </a:t>
            </a:r>
            <a:r>
              <a:rPr lang="en-GB" dirty="0" err="1"/>
              <a:t>analyze</a:t>
            </a:r>
            <a:r>
              <a:rPr lang="en-GB" dirty="0"/>
              <a:t> the </a:t>
            </a:r>
            <a:r>
              <a:rPr lang="en-GB" b="1" dirty="0"/>
              <a:t>relationship between payment method and customer satisfaction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Business Insight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• The high number of 5-star reviews with credit card payments suggests </a:t>
            </a:r>
            <a:r>
              <a:rPr lang="en-GB" b="1" dirty="0"/>
              <a:t>strong customer trust in digital payment methods</a:t>
            </a:r>
            <a:r>
              <a:rPr lang="en-GB" dirty="0"/>
              <a:t>, encouraging businesses to maintain </a:t>
            </a:r>
            <a:r>
              <a:rPr lang="en-GB" b="1" dirty="0"/>
              <a:t>secure and convenient credit card payment options</a:t>
            </a:r>
            <a:r>
              <a:rPr lang="en-GB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A2B58-8D95-2054-D600-5F02C93FD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80326"/>
            <a:ext cx="4358542" cy="2319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5882E6-91E1-96E8-0F82-0ADF74AD4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656807"/>
            <a:ext cx="4116722" cy="264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6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1BE0-F286-277E-DAA7-A1DC3190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400" y="-381794"/>
            <a:ext cx="12342989" cy="7134992"/>
          </a:xfrm>
        </p:spPr>
        <p:txBody>
          <a:bodyPr>
            <a:normAutofit/>
          </a:bodyPr>
          <a:lstStyle/>
          <a:p>
            <a:pPr marL="0" indent="0" algn="ctr"/>
            <a:endParaRPr lang="en-US" sz="3200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0" indent="0"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KPI-3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Average Delivery Time for Pet Shop Products</a:t>
            </a:r>
          </a:p>
          <a:p>
            <a:pPr marL="0" indent="0" algn="ctr"/>
            <a:endParaRPr lang="en-IN" sz="2799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0B654-FD99-C8C1-8434-029BD9633641}"/>
              </a:ext>
            </a:extLst>
          </p:cNvPr>
          <p:cNvSpPr txBox="1"/>
          <p:nvPr/>
        </p:nvSpPr>
        <p:spPr>
          <a:xfrm>
            <a:off x="4865556" y="380206"/>
            <a:ext cx="701539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31" indent="-342831">
              <a:buFont typeface="Wingdings" panose="05000000000000000000" pitchFamily="2" charset="2"/>
              <a:buChar char="§"/>
            </a:pPr>
            <a:endParaRPr lang="en-GB" dirty="0"/>
          </a:p>
          <a:p>
            <a:pPr marL="342831" indent="-342831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This KPI measures the </a:t>
            </a:r>
            <a:r>
              <a:rPr lang="en-GB" b="1" dirty="0"/>
              <a:t>average number of days taken to deliver orders for the pet_shop product category</a:t>
            </a:r>
            <a:r>
              <a:rPr lang="en-GB" dirty="0"/>
              <a:t> using the </a:t>
            </a:r>
            <a:r>
              <a:rPr lang="en-GB" b="1" dirty="0"/>
              <a:t>order_delivered_customer_date</a:t>
            </a:r>
            <a:r>
              <a:rPr lang="en-GB" dirty="0"/>
              <a:t>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The analysis shows that the </a:t>
            </a:r>
            <a:r>
              <a:rPr lang="en-GB" b="1" dirty="0"/>
              <a:t>average delivery time for pet shop products is around 11 days</a:t>
            </a:r>
            <a:r>
              <a:rPr lang="en-GB" dirty="0"/>
              <a:t>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This metric helps evaluate the </a:t>
            </a:r>
            <a:r>
              <a:rPr lang="en-GB" b="1" dirty="0"/>
              <a:t>efficiency of the delivery and logistics process</a:t>
            </a:r>
            <a:r>
              <a:rPr lang="en-GB" dirty="0"/>
              <a:t> for this category.</a:t>
            </a:r>
          </a:p>
          <a:p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Monitoring delivery time helps businesses </a:t>
            </a:r>
            <a:r>
              <a:rPr lang="en-GB" b="1" dirty="0"/>
              <a:t>identify delays and improve operational performance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Business Insight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Improving logistics efficiency and reducing delivery time can </a:t>
            </a:r>
            <a:r>
              <a:rPr lang="en-GB" b="1" dirty="0"/>
              <a:t>enhance customer satisfaction and provide a better delivery experience</a:t>
            </a:r>
            <a:r>
              <a:rPr lang="en-GB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99B539-7605-2AA6-B532-C370BBF73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6006"/>
            <a:ext cx="43434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2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75F7C-0FE5-AFB6-17D9-A415BFC87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" y="151606"/>
            <a:ext cx="12114389" cy="6704806"/>
          </a:xfrm>
        </p:spPr>
        <p:txBody>
          <a:bodyPr>
            <a:normAutofit/>
          </a:bodyPr>
          <a:lstStyle/>
          <a:p>
            <a:pPr marL="0" indent="0"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KPI-4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Average Price and Payment Value from São Paulo Customers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D167A-4011-DC4D-18A4-2B5FC8A27966}"/>
              </a:ext>
            </a:extLst>
          </p:cNvPr>
          <p:cNvSpPr txBox="1"/>
          <p:nvPr/>
        </p:nvSpPr>
        <p:spPr>
          <a:xfrm>
            <a:off x="5486400" y="1066006"/>
            <a:ext cx="67041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This KPI </a:t>
            </a:r>
            <a:r>
              <a:rPr lang="en-GB" sz="1600" dirty="0" err="1"/>
              <a:t>analyzes</a:t>
            </a:r>
            <a:r>
              <a:rPr lang="en-GB" sz="1600" dirty="0"/>
              <a:t> the </a:t>
            </a:r>
            <a:r>
              <a:rPr lang="en-GB" sz="1600" b="1" dirty="0"/>
              <a:t>average product price and payment value for customers located in São Paulo city</a:t>
            </a:r>
            <a:r>
              <a:rPr lang="en-GB" sz="1600" dirty="0"/>
              <a:t>.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The analysis shows that the </a:t>
            </a:r>
            <a:r>
              <a:rPr lang="en-GB" sz="1600" b="1" dirty="0"/>
              <a:t>average product price is around 108, while the average payment value is about 153</a:t>
            </a:r>
            <a:r>
              <a:rPr lang="en-GB" sz="1600" dirty="0"/>
              <a:t>.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This means customers pay </a:t>
            </a:r>
            <a:r>
              <a:rPr lang="en-GB" sz="1600" b="1" dirty="0"/>
              <a:t>about 41% more than the product price</a:t>
            </a:r>
            <a:r>
              <a:rPr lang="en-GB" sz="1600" dirty="0"/>
              <a:t>, which may include shipping charges or additional costs.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The KPI helps understand the </a:t>
            </a:r>
            <a:r>
              <a:rPr lang="en-GB" sz="1600" b="1" dirty="0"/>
              <a:t>spending patterns and purchasing </a:t>
            </a:r>
            <a:r>
              <a:rPr lang="en-GB" sz="1600" b="1" dirty="0" err="1"/>
              <a:t>behavior</a:t>
            </a:r>
            <a:r>
              <a:rPr lang="en-GB" sz="1600" b="1" dirty="0"/>
              <a:t> of customers in this region</a:t>
            </a:r>
            <a:r>
              <a:rPr lang="en-GB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/>
          </a:p>
          <a:p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Business Insight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Higher payment values in São Paulo indicate </a:t>
            </a:r>
            <a:r>
              <a:rPr lang="en-GB" sz="1600" b="1" dirty="0"/>
              <a:t>strong purchasing power and a willingness to spend more</a:t>
            </a:r>
            <a:r>
              <a:rPr lang="en-GB" sz="1600" dirty="0"/>
              <a:t>, allowing businesses to target this region with </a:t>
            </a:r>
            <a:r>
              <a:rPr lang="en-GB" sz="1600" b="1" dirty="0"/>
              <a:t>premium products and focused marketing strategies</a:t>
            </a:r>
            <a:r>
              <a:rPr lang="en-GB" sz="16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A474BF-4C45-1FFA-14A6-D62A2AD24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66006"/>
            <a:ext cx="4572000" cy="425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153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DDF49-2EBE-27E7-C491-DB2B7DD30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1" y="0"/>
            <a:ext cx="12189178" cy="6856412"/>
          </a:xfrm>
        </p:spPr>
        <p:txBody>
          <a:bodyPr>
            <a:normAutofit/>
          </a:bodyPr>
          <a:lstStyle/>
          <a:p>
            <a:pPr marL="0" indent="0" algn="ctr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KPI-5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Relationship Between Shipping Days and Review Scores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9AB85-DF6A-4E9F-8E48-9811F4A6424E}"/>
              </a:ext>
            </a:extLst>
          </p:cNvPr>
          <p:cNvSpPr txBox="1"/>
          <p:nvPr/>
        </p:nvSpPr>
        <p:spPr>
          <a:xfrm>
            <a:off x="5638800" y="608806"/>
            <a:ext cx="6553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This KPI </a:t>
            </a:r>
            <a:r>
              <a:rPr lang="en-GB" sz="1600" dirty="0" err="1"/>
              <a:t>analyzes</a:t>
            </a:r>
            <a:r>
              <a:rPr lang="en-GB" sz="1600" dirty="0"/>
              <a:t> the </a:t>
            </a:r>
            <a:r>
              <a:rPr lang="en-GB" sz="1600" b="1" dirty="0"/>
              <a:t>relationship between shipping days and customer review scores</a:t>
            </a:r>
          </a:p>
          <a:p>
            <a:r>
              <a:rPr lang="en-GB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The analysis shows that </a:t>
            </a:r>
            <a:r>
              <a:rPr lang="en-GB" sz="1600" b="1" dirty="0"/>
              <a:t>orders delivered in fewer days receive higher review scores</a:t>
            </a:r>
            <a:r>
              <a:rPr lang="en-GB" sz="1600" dirty="0"/>
              <a:t>, indicating better customer satisfaction.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In contrast, </a:t>
            </a:r>
            <a:r>
              <a:rPr lang="en-GB" sz="1600" b="1" dirty="0"/>
              <a:t>orders with longer shipping times tend to receive lower ratings</a:t>
            </a:r>
            <a:r>
              <a:rPr lang="en-GB" sz="1600" dirty="0"/>
              <a:t>.</a:t>
            </a:r>
          </a:p>
          <a:p>
            <a:endParaRPr lang="en-GB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This demonstrates that </a:t>
            </a:r>
            <a:r>
              <a:rPr lang="en-GB" sz="1600" b="1" dirty="0"/>
              <a:t>delivery speed plays an important role in shaping the customer experience and satisfaction levels</a:t>
            </a:r>
            <a:r>
              <a:rPr lang="en-GB" sz="1600" dirty="0"/>
              <a:t>.</a:t>
            </a:r>
          </a:p>
          <a:p>
            <a:endParaRPr lang="en-GB" sz="1600" dirty="0"/>
          </a:p>
          <a:p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Business Insight</a:t>
            </a:r>
          </a:p>
          <a:p>
            <a:endParaRPr lang="en-GB" sz="1600" b="1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/>
              <a:t> </a:t>
            </a:r>
            <a:r>
              <a:rPr lang="en-GB" sz="1600" b="1" dirty="0"/>
              <a:t>Faster deliveries lead to higher customer satisfaction and better review scores</a:t>
            </a:r>
            <a:r>
              <a:rPr lang="en-GB" sz="1600" dirty="0"/>
              <a:t>, so improving logistics efficiency can help businesses </a:t>
            </a:r>
            <a:r>
              <a:rPr lang="en-GB" sz="1600" b="1" dirty="0"/>
              <a:t>increase positive reviews and strengthen customer loyalty</a:t>
            </a:r>
            <a:r>
              <a:rPr lang="en-GB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29443E-61E2-9DAA-9207-5E16D3A17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3606"/>
            <a:ext cx="525218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09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BCB8-2A0B-8A73-CD60-3AA821D3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88" y="75407"/>
            <a:ext cx="8594678" cy="719359"/>
          </a:xfrm>
        </p:spPr>
        <p:txBody>
          <a:bodyPr>
            <a:normAutofit/>
          </a:bodyPr>
          <a:lstStyle/>
          <a:p>
            <a:r>
              <a:rPr lang="en-IN" sz="2799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Excel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CADD1-78BC-014A-844B-F0A3B3705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107" y="794766"/>
            <a:ext cx="11310235" cy="575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6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B5B8-DC58-1AC4-0B54-088A78BD9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88" y="91993"/>
            <a:ext cx="8594678" cy="695703"/>
          </a:xfrm>
        </p:spPr>
        <p:txBody>
          <a:bodyPr>
            <a:normAutofit/>
          </a:bodyPr>
          <a:lstStyle/>
          <a:p>
            <a:r>
              <a:rPr lang="en-IN" sz="2799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7B4754-CF69-038C-8F7C-A7D5F15D6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610" y="724451"/>
            <a:ext cx="11364748" cy="593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734C4-0E2C-1453-7589-B5359A38E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88" y="195487"/>
            <a:ext cx="8594678" cy="56572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Tableau </a:t>
            </a:r>
            <a:r>
              <a:rPr lang="en-IN" sz="2799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Dashboard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041B52-ED7F-BFFF-4347-8EF6CF03C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34" y="761207"/>
            <a:ext cx="11764731" cy="567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26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1DD7-D695-8D61-0611-4D3812C96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B91D5-2413-F1BA-99C3-52AB340D2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588" y="195487"/>
            <a:ext cx="8594678" cy="56572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SQL </a:t>
            </a:r>
            <a:r>
              <a:rPr lang="en-IN" sz="2799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Queries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5B929D-9451-C11A-37F0-BCAC63680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785" y="761206"/>
            <a:ext cx="3886200" cy="2522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34BF98-282A-A011-0C40-F036C6D7F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3428206"/>
            <a:ext cx="3700155" cy="2531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3503D8-ECFE-645B-876F-12DD85959A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3428206"/>
            <a:ext cx="3810000" cy="25312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0D1BF3-109D-8933-346D-1D4CD30CDF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826499"/>
            <a:ext cx="3886200" cy="25226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CAD0E2-0171-9339-3086-8E89428C14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15" y="761206"/>
            <a:ext cx="3578538" cy="24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52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99B4F37-51ED-2285-621A-ADF0D73CF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000" y="151606"/>
            <a:ext cx="12571589" cy="6704806"/>
          </a:xfrm>
        </p:spPr>
        <p:txBody>
          <a:bodyPr/>
          <a:lstStyle/>
          <a:p>
            <a:pPr marL="0" indent="0"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Business Insights</a:t>
            </a:r>
          </a:p>
          <a:p>
            <a:pPr marL="0" indent="0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DE176-ED40-C00C-9376-48CA73F1F83C}"/>
              </a:ext>
            </a:extLst>
          </p:cNvPr>
          <p:cNvSpPr txBox="1"/>
          <p:nvPr/>
        </p:nvSpPr>
        <p:spPr>
          <a:xfrm>
            <a:off x="457200" y="608806"/>
            <a:ext cx="112014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GB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 </a:t>
            </a:r>
            <a:r>
              <a:rPr lang="en-GB" b="1" dirty="0"/>
              <a:t>Weekday transactions dominate</a:t>
            </a:r>
            <a:r>
              <a:rPr lang="en-GB" dirty="0"/>
              <a:t>, contributing around </a:t>
            </a:r>
            <a:r>
              <a:rPr lang="en-GB" b="1" dirty="0"/>
              <a:t>78% of total payments</a:t>
            </a:r>
            <a:r>
              <a:rPr lang="en-GB" dirty="0"/>
              <a:t>, while weekends account for </a:t>
            </a:r>
            <a:r>
              <a:rPr lang="en-GB" b="1" dirty="0"/>
              <a:t>about 22%</a:t>
            </a:r>
            <a:r>
              <a:rPr lang="en-GB" dirty="0"/>
              <a:t>, showing customers prefer shopping on weekdays.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A large share of customers provide </a:t>
            </a:r>
            <a:r>
              <a:rPr lang="en-GB" b="1" dirty="0"/>
              <a:t>high review ratings</a:t>
            </a:r>
            <a:r>
              <a:rPr lang="en-GB" dirty="0"/>
              <a:t>, with approximately </a:t>
            </a:r>
            <a:r>
              <a:rPr lang="en-GB" b="1" dirty="0"/>
              <a:t>61% of orders receiving 5-star reviews</a:t>
            </a:r>
            <a:r>
              <a:rPr lang="en-GB" dirty="0"/>
              <a:t>, indicating strong customer satisfaction.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The </a:t>
            </a:r>
            <a:r>
              <a:rPr lang="en-GB" b="1" dirty="0"/>
              <a:t>average delivery time is about 12.5 days</a:t>
            </a:r>
            <a:r>
              <a:rPr lang="en-GB" dirty="0"/>
              <a:t>, highlighting the importance of improving logistics and delivery efficiency.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 Customers from </a:t>
            </a:r>
            <a:r>
              <a:rPr lang="en-GB" b="1" dirty="0"/>
              <a:t>São Paulo demonstrate higher purchasing activity</a:t>
            </a:r>
            <a:r>
              <a:rPr lang="en-GB" dirty="0"/>
              <a:t>, with payment values </a:t>
            </a:r>
            <a:r>
              <a:rPr lang="en-GB" b="1" dirty="0"/>
              <a:t>around 24% higher than the average product price</a:t>
            </a:r>
            <a:r>
              <a:rPr lang="en-GB" dirty="0"/>
              <a:t>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</a:t>
            </a:r>
            <a:r>
              <a:rPr lang="en-GB" b="1" dirty="0"/>
              <a:t>Faster deliveries result in higher review scores</a:t>
            </a:r>
            <a:r>
              <a:rPr lang="en-GB" dirty="0"/>
              <a:t>, while delayed deliveries significantly reduce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03541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2A098-69E2-3755-F460-470235390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606"/>
            <a:ext cx="12190589" cy="6704806"/>
          </a:xfrm>
        </p:spPr>
        <p:txBody>
          <a:bodyPr>
            <a:normAutofit/>
          </a:bodyPr>
          <a:lstStyle/>
          <a:p>
            <a:pPr marL="0" indent="0"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F6B96-0944-E6C3-6F88-0A4A81784759}"/>
              </a:ext>
            </a:extLst>
          </p:cNvPr>
          <p:cNvSpPr txBox="1"/>
          <p:nvPr/>
        </p:nvSpPr>
        <p:spPr>
          <a:xfrm>
            <a:off x="457200" y="532606"/>
            <a:ext cx="114299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Since </a:t>
            </a:r>
            <a:r>
              <a:rPr lang="en-GB" b="1" dirty="0"/>
              <a:t>around 78% of transactions occur on weekdays</a:t>
            </a:r>
            <a:r>
              <a:rPr lang="en-GB" dirty="0"/>
              <a:t>, businesses can introduce </a:t>
            </a:r>
            <a:r>
              <a:rPr lang="en-GB" b="1" dirty="0"/>
              <a:t>weekend promotions, discounts, or flash sales</a:t>
            </a:r>
            <a:r>
              <a:rPr lang="en-GB" dirty="0"/>
              <a:t> to increase weekend purchases.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As </a:t>
            </a:r>
            <a:r>
              <a:rPr lang="en-GB" b="1" dirty="0"/>
              <a:t>over 60% of credit card transactions receive 5-star reviews</a:t>
            </a:r>
            <a:r>
              <a:rPr lang="en-GB" dirty="0"/>
              <a:t>, maintaining </a:t>
            </a:r>
            <a:r>
              <a:rPr lang="en-GB" b="1" dirty="0"/>
              <a:t>secure and convenient digital payment options</a:t>
            </a:r>
            <a:r>
              <a:rPr lang="en-GB" dirty="0"/>
              <a:t> can strengthen customer trust and encourage repeat purchases.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The </a:t>
            </a:r>
            <a:r>
              <a:rPr lang="en-GB" b="1" dirty="0"/>
              <a:t>average delivery time of about 12.5 days</a:t>
            </a:r>
            <a:r>
              <a:rPr lang="en-GB" dirty="0"/>
              <a:t> indicates the need to </a:t>
            </a:r>
            <a:r>
              <a:rPr lang="en-GB" b="1" dirty="0"/>
              <a:t>improve logistics efficiency</a:t>
            </a:r>
            <a:r>
              <a:rPr lang="en-GB" dirty="0"/>
              <a:t> by optimizing shipping routes and delivery partnerships.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Customers from </a:t>
            </a:r>
            <a:r>
              <a:rPr lang="en-GB" b="1" dirty="0"/>
              <a:t>São Paulo show strong purchasing </a:t>
            </a:r>
            <a:r>
              <a:rPr lang="en-GB" b="1" dirty="0" err="1"/>
              <a:t>behavior</a:t>
            </a:r>
            <a:r>
              <a:rPr lang="en-GB" dirty="0"/>
              <a:t>, so businesses should focus </a:t>
            </a:r>
            <a:r>
              <a:rPr lang="en-GB" b="1" dirty="0"/>
              <a:t>targeted marketing campaigns and promotional offers</a:t>
            </a:r>
            <a:r>
              <a:rPr lang="en-GB" dirty="0"/>
              <a:t> in high-demand cities.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/>
              <a:t> Implement </a:t>
            </a:r>
            <a:r>
              <a:rPr lang="en-GB" b="1" dirty="0"/>
              <a:t>better shipment tracking and communication systems</a:t>
            </a:r>
            <a:r>
              <a:rPr lang="en-GB" dirty="0"/>
              <a:t> to provide regular delivery updates and improve overall customer experience.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51944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9A3D-1315-ABEB-B88B-D62B9A59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37406"/>
            <a:ext cx="9906000" cy="76782"/>
          </a:xfrm>
        </p:spPr>
        <p:txBody>
          <a:bodyPr/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                       Business Impact</a:t>
            </a:r>
            <a:br>
              <a:rPr lang="en-GB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B0CA8-67CA-6B93-0DD1-22048CAD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806"/>
            <a:ext cx="10515600" cy="4572000"/>
          </a:xfrm>
        </p:spPr>
        <p:txBody>
          <a:bodyPr>
            <a:normAutofit/>
          </a:bodyPr>
          <a:lstStyle/>
          <a:p>
            <a:r>
              <a:rPr lang="en-GB" sz="1800" dirty="0"/>
              <a:t>▪ </a:t>
            </a:r>
            <a:r>
              <a:rPr lang="en-GB" sz="1800" dirty="0">
                <a:latin typeface="Arial Rounded MT Bold" panose="020F0704030504030204" pitchFamily="34" charset="0"/>
              </a:rPr>
              <a:t>Improved Sales Performance</a:t>
            </a:r>
            <a:br>
              <a:rPr lang="en-GB" sz="1800" dirty="0"/>
            </a:br>
            <a:r>
              <a:rPr lang="en-GB" sz="1800" dirty="0"/>
              <a:t>Weekend promotions and targeted campaigns can increase sales and balance transaction activity.</a:t>
            </a:r>
          </a:p>
          <a:p>
            <a:r>
              <a:rPr lang="en-GB" sz="1800" dirty="0"/>
              <a:t>▪ </a:t>
            </a:r>
            <a:r>
              <a:rPr lang="en-GB" sz="1800" dirty="0">
                <a:latin typeface="Arial Rounded MT Bold" panose="020F0704030504030204" pitchFamily="34" charset="0"/>
              </a:rPr>
              <a:t>Higher Customer Satisfaction</a:t>
            </a:r>
            <a:br>
              <a:rPr lang="en-GB" sz="1800" dirty="0"/>
            </a:br>
            <a:r>
              <a:rPr lang="en-GB" sz="1800" dirty="0"/>
              <a:t>Faster delivery times and efficient logistics improve the overall customer experience and review scores.</a:t>
            </a:r>
          </a:p>
          <a:p>
            <a:r>
              <a:rPr lang="en-GB" sz="1800" dirty="0"/>
              <a:t>▪ </a:t>
            </a:r>
            <a:r>
              <a:rPr lang="en-GB" sz="1800" dirty="0">
                <a:latin typeface="Arial Rounded MT Bold" panose="020F0704030504030204" pitchFamily="34" charset="0"/>
              </a:rPr>
              <a:t>Stronger Customer Trust</a:t>
            </a:r>
            <a:br>
              <a:rPr lang="en-GB" sz="1800" dirty="0"/>
            </a:br>
            <a:r>
              <a:rPr lang="en-GB" sz="1800" dirty="0"/>
              <a:t>Secure and convenient payment options encourage repeat purchases and long-term customer relationships.</a:t>
            </a:r>
          </a:p>
          <a:p>
            <a:r>
              <a:rPr lang="en-GB" sz="1800" dirty="0"/>
              <a:t>▪ </a:t>
            </a:r>
            <a:r>
              <a:rPr lang="en-GB" sz="1800" dirty="0">
                <a:latin typeface="Arial Rounded MT Bold" panose="020F0704030504030204" pitchFamily="34" charset="0"/>
              </a:rPr>
              <a:t>Better Marketing Strategies</a:t>
            </a:r>
            <a:br>
              <a:rPr lang="en-GB" sz="1800" dirty="0"/>
            </a:br>
            <a:r>
              <a:rPr lang="en-GB" sz="1800" dirty="0"/>
              <a:t>Focusing on high-demand cities like São Paulo helps businesses target customers with higher spending power.</a:t>
            </a:r>
          </a:p>
          <a:p>
            <a:r>
              <a:rPr lang="en-GB" sz="1800" dirty="0"/>
              <a:t>▪ </a:t>
            </a:r>
            <a:r>
              <a:rPr lang="en-GB" sz="1800" dirty="0">
                <a:latin typeface="Arial Rounded MT Bold" panose="020F0704030504030204" pitchFamily="34" charset="0"/>
              </a:rPr>
              <a:t>Improved Operational Efficiency</a:t>
            </a:r>
            <a:br>
              <a:rPr lang="en-GB" sz="1800" dirty="0"/>
            </a:br>
            <a:r>
              <a:rPr lang="en-GB" sz="1800" dirty="0" err="1"/>
              <a:t>Analyzing</a:t>
            </a:r>
            <a:r>
              <a:rPr lang="en-GB" sz="1800" dirty="0"/>
              <a:t> delivery performance helps businesses optimize logistics and reduce delays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7662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0F385-4C8D-691D-23F4-2E668602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255C7-EE3C-0C97-115A-3A0784D59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066006"/>
            <a:ext cx="10134600" cy="43434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 Handling Multiple Datasets</a:t>
            </a:r>
            <a:br>
              <a:rPr lang="en-GB" sz="1800" dirty="0"/>
            </a:br>
            <a:r>
              <a:rPr lang="en-GB" sz="1800" dirty="0"/>
              <a:t>The </a:t>
            </a:r>
            <a:r>
              <a:rPr lang="en-GB" sz="1800" dirty="0" err="1"/>
              <a:t>Olist</a:t>
            </a:r>
            <a:r>
              <a:rPr lang="en-GB" sz="1800" dirty="0"/>
              <a:t> dataset contains multiple tables such as customers, orders, payments, and reviews, which required proper joins and relationships.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Data Cleaning and Preparation</a:t>
            </a:r>
            <a:br>
              <a:rPr lang="en-GB" sz="1800" dirty="0"/>
            </a:br>
            <a:r>
              <a:rPr lang="en-GB" sz="1800" dirty="0"/>
              <a:t>Some fields contained missing values and inconsistent formats, requiring cleaning before analysis.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Complex Table Joins in SQL</a:t>
            </a:r>
            <a:br>
              <a:rPr lang="en-GB" sz="1800" dirty="0"/>
            </a:br>
            <a:r>
              <a:rPr lang="en-GB" sz="1800" dirty="0"/>
              <a:t>Combining multiple datasets using joins was necessary to extract meaningful insights.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Designing Clear Visualizations</a:t>
            </a:r>
            <a:br>
              <a:rPr lang="en-GB" sz="1800" dirty="0"/>
            </a:br>
            <a:r>
              <a:rPr lang="en-GB" sz="1800" dirty="0"/>
              <a:t>Creating dashboards that clearly communicate insights in Excel, Power BI, and Tableau required careful design.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1800" dirty="0"/>
              <a:t> Ensuring Accurate KPI Calculations</a:t>
            </a:r>
            <a:br>
              <a:rPr lang="en-GB" sz="1800" dirty="0"/>
            </a:br>
            <a:r>
              <a:rPr lang="en-GB" sz="1800" dirty="0"/>
              <a:t>Building KPIs such as average delivery time, review score analysis, and payment patterns required correct calculations and validation.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592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B5C6E-C661-4A72-2BBE-ED4FD2FC0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28600" y="151606"/>
            <a:ext cx="12419189" cy="6704806"/>
          </a:xfrm>
        </p:spPr>
        <p:txBody>
          <a:bodyPr>
            <a:normAutofit/>
          </a:bodyPr>
          <a:lstStyle/>
          <a:p>
            <a:pPr marL="0" indent="0"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BF0E8-7176-5D41-DC1E-ADAD9342B854}"/>
              </a:ext>
            </a:extLst>
          </p:cNvPr>
          <p:cNvSpPr txBox="1"/>
          <p:nvPr/>
        </p:nvSpPr>
        <p:spPr>
          <a:xfrm>
            <a:off x="609600" y="761206"/>
            <a:ext cx="10591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 The </a:t>
            </a:r>
            <a:r>
              <a:rPr lang="en-GB" b="1" dirty="0" err="1"/>
              <a:t>Olist</a:t>
            </a:r>
            <a:r>
              <a:rPr lang="en-GB" b="1" dirty="0"/>
              <a:t> e-commerce data analysis</a:t>
            </a:r>
            <a:r>
              <a:rPr lang="en-GB" dirty="0"/>
              <a:t> provides valuable insights into </a:t>
            </a:r>
            <a:r>
              <a:rPr lang="en-GB" b="1" dirty="0"/>
              <a:t>customer purchasing </a:t>
            </a:r>
            <a:r>
              <a:rPr lang="en-GB" b="1" dirty="0" err="1"/>
              <a:t>behavior</a:t>
            </a:r>
            <a:r>
              <a:rPr lang="en-GB" b="1" dirty="0"/>
              <a:t>, payment patterns, delivery performance, and review trends</a:t>
            </a:r>
            <a:r>
              <a:rPr lang="en-GB" dirty="0"/>
              <a:t>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 The analysis shows that </a:t>
            </a:r>
            <a:r>
              <a:rPr lang="en-GB" b="1" dirty="0"/>
              <a:t>most transactions occur on weekdays</a:t>
            </a:r>
            <a:r>
              <a:rPr lang="en-GB" dirty="0"/>
              <a:t>, and </a:t>
            </a:r>
            <a:r>
              <a:rPr lang="en-GB" b="1" dirty="0"/>
              <a:t>credit card payments are associated with higher customer satisfaction and positive reviews</a:t>
            </a:r>
            <a:r>
              <a:rPr lang="en-GB" dirty="0"/>
              <a:t>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 </a:t>
            </a:r>
            <a:r>
              <a:rPr lang="en-GB" b="1" dirty="0"/>
              <a:t>Delivery time plays a critical role in customer experience</a:t>
            </a:r>
            <a:r>
              <a:rPr lang="en-GB" dirty="0"/>
              <a:t>, as faster deliveries tend to receive higher review scores.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 Cities such as </a:t>
            </a:r>
            <a:r>
              <a:rPr lang="en-GB" b="1" dirty="0"/>
              <a:t>São Paulo contribute significantly to overall sales</a:t>
            </a:r>
            <a:r>
              <a:rPr lang="en-GB" dirty="0"/>
              <a:t>, highlighting the importance of focusing on </a:t>
            </a:r>
            <a:r>
              <a:rPr lang="en-GB" b="1" dirty="0"/>
              <a:t>high-demand regions</a:t>
            </a:r>
            <a:r>
              <a:rPr lang="en-GB" dirty="0"/>
              <a:t>.</a:t>
            </a:r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GB" dirty="0"/>
              <a:t> Overall, </a:t>
            </a:r>
            <a:r>
              <a:rPr lang="en-GB" b="1" dirty="0"/>
              <a:t>improving logistics efficiency, delivery speed, and customer experience</a:t>
            </a:r>
            <a:r>
              <a:rPr lang="en-GB" dirty="0"/>
              <a:t> can help businesses increase customer satisfaction and drive better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46299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85007"/>
            <a:ext cx="9829800" cy="1981200"/>
          </a:xfrm>
        </p:spPr>
        <p:txBody>
          <a:bodyPr>
            <a:normAutofit/>
          </a:bodyPr>
          <a:lstStyle/>
          <a:p>
            <a:pPr algn="ctr"/>
            <a:r>
              <a:rPr lang="en-GB" sz="9600" b="0" dirty="0">
                <a:latin typeface="Algerian" pitchFamily="82" charset="0"/>
              </a:rPr>
              <a:t>THANK YOU</a:t>
            </a:r>
            <a:endParaRPr lang="en-IN" sz="9600" b="0" dirty="0">
              <a:latin typeface="Algerian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86800" y="5409406"/>
            <a:ext cx="3352800" cy="855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0075" marR="5080" indent="-588010">
              <a:lnSpc>
                <a:spcPct val="143900"/>
              </a:lnSpc>
              <a:spcBef>
                <a:spcPts val="95"/>
              </a:spcBef>
            </a:pPr>
            <a:r>
              <a:rPr lang="en-GB" b="1" spc="-13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Presented</a:t>
            </a:r>
            <a:r>
              <a:rPr lang="en-GB" b="1" spc="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 </a:t>
            </a:r>
            <a:r>
              <a:rPr lang="en-GB" b="1" spc="-10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by:</a:t>
            </a:r>
            <a:r>
              <a:rPr lang="en-GB" b="1" spc="15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 </a:t>
            </a:r>
            <a:r>
              <a:rPr lang="en-GB" b="1" spc="-14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Group 1</a:t>
            </a:r>
            <a:endParaRPr lang="en-GB" b="1" spc="-120" dirty="0">
              <a:solidFill>
                <a:srgbClr val="2525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Segoe UI Symbol"/>
            </a:endParaRPr>
          </a:p>
          <a:p>
            <a:pPr marL="600075" marR="5080" indent="-588010">
              <a:lnSpc>
                <a:spcPct val="143900"/>
              </a:lnSpc>
              <a:spcBef>
                <a:spcPts val="95"/>
              </a:spcBef>
            </a:pPr>
            <a:r>
              <a:rPr lang="en-GB" b="1" spc="-12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               </a:t>
            </a:r>
            <a:r>
              <a:rPr lang="en-GB" b="1" spc="-11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Date:</a:t>
            </a:r>
            <a:r>
              <a:rPr lang="en-GB" b="1" spc="-20" dirty="0">
                <a:solidFill>
                  <a:srgbClr val="2525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ymbol"/>
                <a:cs typeface="Segoe UI Symbol"/>
              </a:rPr>
              <a:t>  16-03-2026</a:t>
            </a:r>
            <a:endPara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ymbol"/>
              <a:cs typeface="Segoe UI Symbo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3B3F5B-C202-7BA4-FCE8-33CFE1157C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8" r="1326"/>
          <a:stretch/>
        </p:blipFill>
        <p:spPr>
          <a:xfrm>
            <a:off x="3048000" y="2132806"/>
            <a:ext cx="5791200" cy="270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11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3478</TotalTime>
  <Words>1463</Words>
  <Application>Microsoft Office PowerPoint</Application>
  <PresentationFormat>Custom</PresentationFormat>
  <Paragraphs>192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Algerian</vt:lpstr>
      <vt:lpstr>Arial</vt:lpstr>
      <vt:lpstr>Arial Rounded MT Bold</vt:lpstr>
      <vt:lpstr>Calibri</vt:lpstr>
      <vt:lpstr>Franklin Gothic Book</vt:lpstr>
      <vt:lpstr>Franklin Gothic Medium</vt:lpstr>
      <vt:lpstr>Metropolis Medium</vt:lpstr>
      <vt:lpstr>Segoe UI Symbol</vt:lpstr>
      <vt:lpstr>Wingdings</vt:lpstr>
      <vt:lpstr>Angles</vt:lpstr>
      <vt:lpstr>OLIST E-COMMERCE CUSTOMER INSIGHTS ANALYSIS Customer Behaviour, Payment &amp; Delivery Analysis using MySQL|powerbi|excel and Tableau</vt:lpstr>
      <vt:lpstr>Team Members  👥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Dashboard</vt:lpstr>
      <vt:lpstr>Power BI Dashboard</vt:lpstr>
      <vt:lpstr>Tableau Dashboard</vt:lpstr>
      <vt:lpstr>SQL Queries</vt:lpstr>
      <vt:lpstr>PowerPoint Presentation</vt:lpstr>
      <vt:lpstr>PowerPoint Presentation</vt:lpstr>
      <vt:lpstr>                        Business Impact </vt:lpstr>
      <vt:lpstr>Challenges faced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Power BI</dc:title>
  <dc:creator>ARUN</dc:creator>
  <cp:lastModifiedBy>Soumya Ranjan Khatoi</cp:lastModifiedBy>
  <cp:revision>21</cp:revision>
  <dcterms:created xsi:type="dcterms:W3CDTF">2025-06-18T11:24:59Z</dcterms:created>
  <dcterms:modified xsi:type="dcterms:W3CDTF">2026-03-16T11:47:19Z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2025-06-18T00:00:00Z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2025-06-18T00:00:00Z</vt:filetime>
  </property>
</Properties>
</file>